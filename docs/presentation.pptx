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rts/chart1.xml" ContentType="application/vnd.openxmlformats-officedocument.drawingml.char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1" r:id="rId15"/>
    <p:sldId id="269" r:id="rId16"/>
    <p:sldId id="270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0215" autoAdjust="0"/>
  </p:normalViewPr>
  <p:slideViewPr>
    <p:cSldViewPr snapToGrid="0" snapToObjects="1">
      <p:cViewPr>
        <p:scale>
          <a:sx n="75" d="100"/>
          <a:sy n="75" d="100"/>
        </p:scale>
        <p:origin x="504" y="6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title>
      <c:tx>
        <c:rich>
          <a:bodyPr/>
          <a:lstStyle/>
          <a:p>
            <a:r>
              <a:rPr lang="ko-KR" altLang="en-US" sz="1400" b="0">
                <a:latin typeface="Malgun Gothic"/>
              </a:rPr>
              <a:t>남성 비율이 </a:t>
            </a:r>
            <a:r>
              <a:rPr lang="en-US" altLang="ko-KR" sz="1400" b="0">
                <a:latin typeface="Malgun Gothic"/>
              </a:rPr>
              <a:t>50%</a:t>
            </a:r>
            <a:r>
              <a:rPr lang="ko-KR" altLang="en-US" sz="1400" b="0">
                <a:latin typeface="Malgun Gothic"/>
              </a:rPr>
              <a:t>가 되는 </a:t>
            </a:r>
            <a:r>
              <a:rPr lang="en-US" altLang="ko-KR" sz="1400" b="0">
                <a:latin typeface="Malgun Gothic"/>
              </a:rPr>
              <a:t>lam (0 = </a:t>
            </a:r>
            <a:r>
              <a:rPr lang="ko-KR" altLang="en-US" sz="1400" b="0">
                <a:latin typeface="Malgun Gothic"/>
              </a:rPr>
              <a:t>축 가운데</a:t>
            </a:r>
            <a:r>
              <a:rPr lang="en-US" altLang="ko-KR" sz="1400" b="0">
                <a:latin typeface="Malgun Gothic"/>
              </a:rPr>
              <a:t>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50:50이 되는 lam</c:v>
                </c:pt>
              </c:strCache>
            </c:strRef>
          </c:tx>
          <c:invertIfNegative val="1"/>
          <c:dPt>
            <c:idx val="0"/>
            <c:invertIfNegative val="1"/>
            <c:bubble3D val="0"/>
            <c:spPr>
              <a:solidFill>
                <a:srgbClr val="2E6FBA"/>
              </a:solidFill>
            </c:spPr>
            <c:extLst>
              <c:ext xmlns:c16="http://schemas.microsoft.com/office/drawing/2014/chart" uri="{C3380CC4-5D6E-409C-BE32-E72D297353CC}">
                <c16:uniqueId val="{00000001-3274-4B59-BAD1-6A5AC730BFD1}"/>
              </c:ext>
            </c:extLst>
          </c:dPt>
          <c:dPt>
            <c:idx val="1"/>
            <c:invertIfNegative val="1"/>
            <c:bubble3D val="0"/>
            <c:spPr>
              <a:solidFill>
                <a:srgbClr val="3A9A5B"/>
              </a:solidFill>
            </c:spPr>
            <c:extLst>
              <c:ext xmlns:c16="http://schemas.microsoft.com/office/drawing/2014/chart" uri="{C3380CC4-5D6E-409C-BE32-E72D297353CC}">
                <c16:uniqueId val="{00000003-3274-4B59-BAD1-6A5AC730BFD1}"/>
              </c:ext>
            </c:extLst>
          </c:dPt>
          <c:dPt>
            <c:idx val="2"/>
            <c:invertIfNegative val="1"/>
            <c:bubble3D val="0"/>
            <c:spPr>
              <a:solidFill>
                <a:srgbClr val="2E6FBA"/>
              </a:solidFill>
            </c:spPr>
            <c:extLst>
              <c:ext xmlns:c16="http://schemas.microsoft.com/office/drawing/2014/chart" uri="{C3380CC4-5D6E-409C-BE32-E72D297353CC}">
                <c16:uniqueId val="{00000005-3274-4B59-BAD1-6A5AC730BFD1}"/>
              </c:ext>
            </c:extLst>
          </c:dPt>
          <c:dPt>
            <c:idx val="3"/>
            <c:invertIfNegative val="1"/>
            <c:bubble3D val="0"/>
            <c:spPr>
              <a:solidFill>
                <a:srgbClr val="3A9A5B"/>
              </a:solidFill>
            </c:spPr>
            <c:extLst>
              <c:ext xmlns:c16="http://schemas.microsoft.com/office/drawing/2014/chart" uri="{C3380CC4-5D6E-409C-BE32-E72D297353CC}">
                <c16:uniqueId val="{00000007-3274-4B59-BAD1-6A5AC730BFD1}"/>
              </c:ext>
            </c:extLst>
          </c:dPt>
          <c:dPt>
            <c:idx val="4"/>
            <c:invertIfNegative val="1"/>
            <c:bubble3D val="0"/>
            <c:spPr>
              <a:solidFill>
                <a:srgbClr val="D1495B"/>
              </a:solidFill>
            </c:spPr>
            <c:extLst>
              <c:ext xmlns:c16="http://schemas.microsoft.com/office/drawing/2014/chart" uri="{C3380CC4-5D6E-409C-BE32-E72D297353CC}">
                <c16:uniqueId val="{00000009-3274-4B59-BAD1-6A5AC730BFD1}"/>
              </c:ext>
            </c:extLst>
          </c:dPt>
          <c:dPt>
            <c:idx val="5"/>
            <c:invertIfNegative val="1"/>
            <c:bubble3D val="0"/>
            <c:spPr>
              <a:solidFill>
                <a:srgbClr val="D1495B"/>
              </a:solidFill>
            </c:spPr>
            <c:extLst>
              <c:ext xmlns:c16="http://schemas.microsoft.com/office/drawing/2014/chart" uri="{C3380CC4-5D6E-409C-BE32-E72D297353CC}">
                <c16:uniqueId val="{0000000B-3274-4B59-BAD1-6A5AC730BFD1}"/>
              </c:ext>
            </c:extLst>
          </c:dPt>
          <c:dLbls>
            <c:numFmt formatCode="\+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300" b="1"/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CEO</c:v>
                </c:pt>
                <c:pt idx="1">
                  <c:v>cashier</c:v>
                </c:pt>
                <c:pt idx="2">
                  <c:v>pilot</c:v>
                </c:pt>
                <c:pt idx="3">
                  <c:v>teacher</c:v>
                </c:pt>
                <c:pt idx="4">
                  <c:v>nurse</c:v>
                </c:pt>
                <c:pt idx="5">
                  <c:v>nanny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0.18</c:v>
                </c:pt>
                <c:pt idx="1">
                  <c:v>0.23</c:v>
                </c:pt>
                <c:pt idx="2">
                  <c:v>0.23</c:v>
                </c:pt>
                <c:pt idx="3">
                  <c:v>0.3</c:v>
                </c:pt>
                <c:pt idx="4">
                  <c:v>0.42</c:v>
                </c:pt>
                <c:pt idx="5">
                  <c:v>0.45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3274-4B59-BAD1-6A5AC730BFD1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5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>
            <a:solidFill>
              <a:srgbClr val="C8CBD0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0.5"/>
          <c:min val="0"/>
        </c:scaling>
        <c:delete val="0"/>
        <c:axPos val="b"/>
        <c:majorGridlines>
          <c:spPr>
            <a:ln>
              <a:solidFill>
                <a:srgbClr val="E3E5E8"/>
              </a:solidFill>
            </a:ln>
          </c:spPr>
        </c:majorGridlines>
        <c:numFmt formatCode="\+0.0;\-0.0;0" sourceLinked="0"/>
        <c:majorTickMark val="out"/>
        <c:minorTickMark val="none"/>
        <c:tickLblPos val="nextTo"/>
        <c:crossAx val="-2068027336"/>
        <c:crosses val="autoZero"/>
        <c:crossBetween val="between"/>
        <c:majorUnit val="0.1"/>
      </c:valAx>
    </c:plotArea>
    <c:plotVisOnly val="1"/>
    <c:dispBlanksAs val="gap"/>
    <c:showDLblsOverMax val="1"/>
  </c:chart>
  <c:txPr>
    <a:bodyPr/>
    <a:lstStyle/>
    <a:p>
      <a:pPr>
        <a:defRPr sz="1300">
          <a:solidFill>
            <a:srgbClr val="1C1F2B"/>
          </a:solidFill>
          <a:latin typeface="Malgun Gothic"/>
        </a:defRPr>
      </a:pPr>
      <a:endParaRPr lang="en-US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836491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CEO를 넣으면 50장 중 98%가 남자, nurse는 0%. 결과만 봐서는 AI가 왜 그러는지 알 수 없다. 오늘은 AI 내부를 열어 이 편향이 어디에 있는지 보여 주고, 직접 움직여서 확인한 과정을 소개한다.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발표는 세 단계. 먼저 내부를 그림으로 보고, 층을 따라 언제 생기는지 추적하고, 마지막으로 그 방향을 직접 움직여 이미지가 바뀌는지 확인한다. 이 세 질문이 연구 질문이다.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Stable Diffusion 1.5는 세 부분으로 되어 있다. 텍스트 인코더(CLIP ViT-L/14의 텍스트 부분)가 프롬프트를 77칸 × 768개 숫자로 바꾸고, U-Net이 이 숫자를 참고하며 노이즈를 25단계에 걸쳐 그림으로 다듬고, VAE 디코더가 최종 픽셀 이미지로 바꾼다. 우리는 이 중 텍스트 인코더의 출력만 건드렸다.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개입 지점은 텍스트 인코더의 최종 출력, 즉 U-Net이 실제로 받는 숫자다. 직업 단어 위치부터 문장 끝까지를 성별 방향으로만 옮긴다. 위치는 lam으로 나타내는데 −1이면 여성 단어들의 평균, +1이면 남성 단어들의 평균, 0이면 가운데다. 여기를 고른 이유는 프롬프트의 의미가 처음 숫자로 바뀌는 곳이고, 단어 쌍으로 방향을 정의할 수 있고, 재학습 없이 원인과 결과를 비교할 수 있기 때문이다. 이것만 바꿔서 그림이 바뀐다면 편향이 텍스트를 읽는 단계에 이미 들어 있다는 뜻이다. 다만 U-Net에 편향이 없다는 증명은 아니다.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지도에서 서울→부산이 화살표이듯, AI 안에서는 man→woman이 하나의 화살표다. 이 화살표가 단어 쌍마다 비슷한 방향이라 그 평균을 성별 방향이라 부른다. 오른쪽 그림은 이해를 위한 개념 도식이고 실제 좌표가 아니다.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7쌍의 화살표가 정말 한 방향을 가리키는지 PCA로 확인했다. 대표 방향 하나가 56.8%를 설명한다. 제각각이면 1/7, 약 14% 수준(이론값)이다. 또 방향을 만들 때 쓰지 않은 3쌍으로 시험했더니 모두 남성 쪽 값이 더 컸다. 주의: PCA는 p값 같은 유의성 검정이 아니라 '한 축으로 잘 요약된다'는 확인이다.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왼쪽은 성별 방향을 세로축으로 직업 20개를 놓은 그림, 오른쪽은 아무 방향을 세로축으로 놓은 대조군이다. 성별 방향에서는 직업이 위아래로 크게 퍼지고, 무작위 방향에서는 납작하다. 가로축은 성별을 뺀 나머지를 PCA로 요약한 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여기서 figures/layer_slider.html을 브라우저로 열어 시연한다. 슬라이더를 0층에서 12층으로 움직이면 처음에는 직업들 사이에 차이가 없다가 층이 올라갈수록 위아래로 갈라진다. 시연이 안 되면 figures/layer_curves.png를 보여 준다: 성별 맞히기 정확도가 1층 약 0.8, 6층 이후 0.95 이상.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같은 행은 같은 시드라 개입 효과만 비교된다. 성별 축을 여성 쪽으로 옮기면 같은 구도에서 여성 CEO가 나오고, 무작위 방향으로 같은 거리를 옮기면 거의 변화가 없다. 다른 직업은 figures/grid_&lt;직업&gt;.png.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직업 20개 중 텍스트에서 가장 남성 쪽 2개, 가장 여성 쪽 2개, 가장 가운데 2개를 골랐다. 조건마다 시드 50개로 생성해 총 2,100장. 성별은 사람이 아닌 CLIP이 'a photo of a man / woman / with no person' 세 문장 중 가장 어울리는 쪽으로 판정했고, 사람 없음은 비율 계산에서 뺐다. 확신 높은 판정만 써도 결과가 거의 같아(차이 평균 2.3%p) 판정이 결론을 바꾸지 않았다.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CLIP 판정으로 센 남성 비율을 축 위치별로 그린 그림. 여성 쪽 끝으로 옮기면 모든 직업이 0~3%, 남성 쪽 끝으로 옮기면 81~100%. 같은 거리를 무작위 방향으로 옮긴 노란 세모는 원본 검은 네모와 거의 겹친다(차이 3%p 이하). 빨간 점선은 남성 50%가 되는 지점인데, 모두 0보다 오른쪽에 있다. 이게 다음 장의 주제.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가장 중요한 장. 가운데로 옮기면 반반일 거라 예상했지만 실제로는 6개 직업 모두 여성이 다수였다(남성 4~27%). 반반이 되는 지점은 모두 양수이고 직업마다 다르다: CEO +0.18, nurse +0.42, nanny +0.45. 텍스트의 성별 방향 하나로는 설명되지 않는 편향이 남아 있다는 뜻이고, 그게 U-Net 쪽인지 다른 방향인지는 이번 실험으로 구분할 수 없다. 내부를 보이게 만들었기 때문에 '축 하나를 지우면 해결'이라는 간단한 방법이 통하지 않는다는 것도 알 수 있었다. 참고: lam은 0.5 간격으로만 생성해서 이 값은 두 점 사이를 직선으로 이은 추정이다.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Discussion에서 축 가운데로 옮겨도 반반이 안 된다는 것을 봤다. 그래서 0이 아니라 반반 지점 근처인 +0.3을 중심으로, 각 직업의 lam을 +0.2 ~ +0.4 범위로 자르는 안전장치를 만들었다. 범위 밖이면 가까운 경계로 옮긴다. 예를 들어 CEO는 +0.67에서 +0.4로, nurse는 −0.43에서 +0.2로. 그 결과 직업별 남성 비율 범위가 0.00~0.98에서 0.19~0.82로 좁아졌고, 50%에서의 평균 거리가 0.41에서 0.25로 약 40% 줄었다.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 err="1"/>
              <a:t>같은</a:t>
            </a:r>
            <a:r>
              <a:rPr dirty="0"/>
              <a:t> </a:t>
            </a:r>
            <a:r>
              <a:rPr dirty="0" err="1"/>
              <a:t>시드로</a:t>
            </a:r>
            <a:r>
              <a:rPr dirty="0"/>
              <a:t> </a:t>
            </a:r>
            <a:r>
              <a:rPr dirty="0" err="1"/>
              <a:t>원본과</a:t>
            </a:r>
            <a:r>
              <a:rPr dirty="0"/>
              <a:t> </a:t>
            </a:r>
            <a:r>
              <a:rPr dirty="0" err="1"/>
              <a:t>클리핑</a:t>
            </a:r>
            <a:r>
              <a:rPr dirty="0"/>
              <a:t> </a:t>
            </a:r>
            <a:r>
              <a:rPr dirty="0" err="1"/>
              <a:t>이미지를</a:t>
            </a:r>
            <a:r>
              <a:rPr dirty="0"/>
              <a:t> </a:t>
            </a:r>
            <a:r>
              <a:rPr dirty="0" err="1"/>
              <a:t>나란히</a:t>
            </a:r>
            <a:r>
              <a:rPr dirty="0"/>
              <a:t> </a:t>
            </a:r>
            <a:r>
              <a:rPr dirty="0" err="1"/>
              <a:t>놓았다</a:t>
            </a:r>
            <a:r>
              <a:rPr dirty="0"/>
              <a:t>. </a:t>
            </a:r>
            <a:r>
              <a:rPr dirty="0" err="1"/>
              <a:t>결과는</a:t>
            </a:r>
            <a:r>
              <a:rPr dirty="0"/>
              <a:t> </a:t>
            </a:r>
            <a:r>
              <a:rPr dirty="0" err="1"/>
              <a:t>생성</a:t>
            </a:r>
            <a:r>
              <a:rPr dirty="0"/>
              <a:t> </a:t>
            </a:r>
            <a:r>
              <a:rPr dirty="0" err="1"/>
              <a:t>전에</a:t>
            </a:r>
            <a:r>
              <a:rPr dirty="0"/>
              <a:t> 05의 lam </a:t>
            </a:r>
            <a:r>
              <a:rPr dirty="0" err="1"/>
              <a:t>곡선으로</a:t>
            </a:r>
            <a:r>
              <a:rPr dirty="0"/>
              <a:t> </a:t>
            </a:r>
            <a:r>
              <a:rPr dirty="0" err="1"/>
              <a:t>미리</a:t>
            </a:r>
            <a:r>
              <a:rPr dirty="0"/>
              <a:t> </a:t>
            </a:r>
            <a:r>
              <a:rPr dirty="0" err="1"/>
              <a:t>계산한</a:t>
            </a:r>
            <a:r>
              <a:rPr dirty="0"/>
              <a:t> </a:t>
            </a:r>
            <a:r>
              <a:rPr dirty="0" err="1"/>
              <a:t>예측과</a:t>
            </a:r>
            <a:r>
              <a:rPr dirty="0"/>
              <a:t> 6개 중 5개가 ±0.04 </a:t>
            </a:r>
            <a:r>
              <a:rPr dirty="0" err="1"/>
              <a:t>안에서</a:t>
            </a:r>
            <a:r>
              <a:rPr dirty="0"/>
              <a:t> </a:t>
            </a:r>
            <a:r>
              <a:rPr dirty="0" err="1"/>
              <a:t>맞았고</a:t>
            </a:r>
            <a:r>
              <a:rPr dirty="0"/>
              <a:t>, </a:t>
            </a:r>
            <a:r>
              <a:rPr dirty="0" err="1"/>
              <a:t>teacher만</a:t>
            </a:r>
            <a:r>
              <a:rPr dirty="0"/>
              <a:t> </a:t>
            </a:r>
            <a:r>
              <a:rPr dirty="0" err="1"/>
              <a:t>예측보다</a:t>
            </a:r>
            <a:r>
              <a:rPr dirty="0"/>
              <a:t> 0.19 </a:t>
            </a:r>
            <a:r>
              <a:rPr dirty="0" err="1"/>
              <a:t>낮았다</a:t>
            </a:r>
            <a:r>
              <a:rPr dirty="0"/>
              <a:t>. CLIP score </a:t>
            </a:r>
            <a:r>
              <a:rPr dirty="0" err="1"/>
              <a:t>변화는</a:t>
            </a:r>
            <a:r>
              <a:rPr dirty="0"/>
              <a:t> 0.4 </a:t>
            </a:r>
            <a:r>
              <a:rPr dirty="0" err="1"/>
              <a:t>이하로</a:t>
            </a:r>
            <a:r>
              <a:rPr dirty="0"/>
              <a:t>, </a:t>
            </a:r>
            <a:r>
              <a:rPr dirty="0" err="1"/>
              <a:t>직업다운</a:t>
            </a:r>
            <a:r>
              <a:rPr dirty="0"/>
              <a:t> </a:t>
            </a:r>
            <a:r>
              <a:rPr dirty="0" err="1"/>
              <a:t>이미지가</a:t>
            </a:r>
            <a:r>
              <a:rPr dirty="0"/>
              <a:t> </a:t>
            </a:r>
            <a:r>
              <a:rPr dirty="0" err="1"/>
              <a:t>유지됐다</a:t>
            </a:r>
            <a:r>
              <a:rPr dirty="0"/>
              <a:t>(lam +1로 </a:t>
            </a:r>
            <a:r>
              <a:rPr dirty="0" err="1"/>
              <a:t>크게</a:t>
            </a:r>
            <a:r>
              <a:rPr dirty="0"/>
              <a:t> </a:t>
            </a:r>
            <a:r>
              <a:rPr dirty="0" err="1"/>
              <a:t>옮겼을</a:t>
            </a:r>
            <a:r>
              <a:rPr dirty="0"/>
              <a:t> 때 </a:t>
            </a:r>
            <a:r>
              <a:rPr dirty="0" err="1"/>
              <a:t>nanny는</a:t>
            </a:r>
            <a:r>
              <a:rPr dirty="0"/>
              <a:t> −2.7). </a:t>
            </a:r>
            <a:r>
              <a:rPr dirty="0" err="1"/>
              <a:t>한계</a:t>
            </a:r>
            <a:r>
              <a:rPr dirty="0"/>
              <a:t>: </a:t>
            </a:r>
            <a:r>
              <a:rPr dirty="0" err="1"/>
              <a:t>편향</a:t>
            </a:r>
            <a:r>
              <a:rPr dirty="0"/>
              <a:t> </a:t>
            </a:r>
            <a:r>
              <a:rPr dirty="0" err="1"/>
              <a:t>폭은</a:t>
            </a:r>
            <a:r>
              <a:rPr dirty="0"/>
              <a:t> </a:t>
            </a:r>
            <a:r>
              <a:rPr dirty="0" err="1"/>
              <a:t>줄었지만</a:t>
            </a:r>
            <a:r>
              <a:rPr dirty="0"/>
              <a:t> </a:t>
            </a:r>
            <a:r>
              <a:rPr dirty="0" err="1"/>
              <a:t>CEO·pilot은</a:t>
            </a:r>
            <a:r>
              <a:rPr dirty="0"/>
              <a:t> 0.80~0.82, </a:t>
            </a:r>
            <a:r>
              <a:rPr dirty="0" err="1"/>
              <a:t>나머지는</a:t>
            </a:r>
            <a:r>
              <a:rPr dirty="0"/>
              <a:t> 0.19~0.44로 </a:t>
            </a:r>
            <a:r>
              <a:rPr dirty="0" err="1"/>
              <a:t>직업</a:t>
            </a:r>
            <a:r>
              <a:rPr dirty="0"/>
              <a:t> 간 </a:t>
            </a:r>
            <a:r>
              <a:rPr dirty="0" err="1"/>
              <a:t>차이는</a:t>
            </a:r>
            <a:r>
              <a:rPr dirty="0"/>
              <a:t> </a:t>
            </a:r>
            <a:r>
              <a:rPr dirty="0" err="1"/>
              <a:t>남아</a:t>
            </a:r>
            <a:r>
              <a:rPr dirty="0"/>
              <a:t> </a:t>
            </a:r>
            <a:r>
              <a:rPr dirty="0" err="1"/>
              <a:t>있다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정리하면 시각화로 편향의 위치를 보였고, 층을 따라 추적했고, 직접 움직여 원인임을 확인했다. 그러나 축 가운데가 중립이 아니라는 점에서 단순한 수정으로는 부족하다는 것도 드러났다. 이미지 품질 질문이 나오면 figures/clip_score.png: nanny를 남성 쪽 끝으로 밀었을 때 가장 크게 떨어짐(23.3 → 20.6).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../figures/layer_slider.html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6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1F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1005840"/>
            <a:ext cx="5486400" cy="1554480"/>
          </a:xfrm>
        </p:spPr>
        <p:txBody>
          <a:bodyPr lIns="0" rIns="0" anchor="ctr"/>
          <a:lstStyle/>
          <a:p>
            <a:pPr algn="l" eaLnBrk="0" latinLnBrk="0"/>
            <a:r>
              <a:rPr lang="ko-KR" altLang="en-US" sz="4000" b="1">
                <a:solidFill>
                  <a:srgbClr val="FFFFFF"/>
                </a:solidFill>
                <a:latin typeface="Malgun Gothic"/>
              </a:rPr>
              <a:t>AI는 왜 CEO를</a:t>
            </a:r>
          </a:p>
          <a:p>
            <a:pPr algn="l" eaLnBrk="0" latinLnBrk="0"/>
            <a:r>
              <a:rPr lang="ko-KR" altLang="en-US" sz="4000" b="1">
                <a:solidFill>
                  <a:srgbClr val="FFFFFF"/>
                </a:solidFill>
                <a:latin typeface="Malgun Gothic"/>
              </a:rPr>
              <a:t>남자로 그릴까?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697480"/>
            <a:ext cx="54864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 latinLnBrk="0">
              <a:spcAft>
                <a:spcPts val="600"/>
              </a:spcAft>
            </a:pPr>
            <a:r>
              <a:rPr lang="ko-KR" altLang="en-US" sz="1800" b="0">
                <a:solidFill>
                  <a:srgbClr val="C9CCD3"/>
                </a:solidFill>
                <a:latin typeface="Malgun Gothic"/>
              </a:rPr>
              <a:t>Stable Diffusion 1.5 텍스트 인코더 속 성별 편향을 시각화하고 직접 움직여 보기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566160"/>
            <a:ext cx="256032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 latinLnBrk="0">
              <a:spcAft>
                <a:spcPts val="600"/>
              </a:spcAft>
            </a:pPr>
            <a:r>
              <a:rPr lang="ko-KR" altLang="en-US" sz="6600" b="1">
                <a:solidFill>
                  <a:srgbClr val="FFFFFF"/>
                </a:solidFill>
                <a:latin typeface="Malgun Gothic"/>
              </a:rPr>
              <a:t>98%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09160"/>
            <a:ext cx="256032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 latinLnBrk="0">
              <a:spcAft>
                <a:spcPts val="600"/>
              </a:spcAft>
            </a:pPr>
            <a:r>
              <a:rPr lang="ko-KR" altLang="en-US" sz="1400" b="0">
                <a:solidFill>
                  <a:srgbClr val="C9CCD3"/>
                </a:solidFill>
                <a:latin typeface="Malgun Gothic"/>
              </a:rPr>
              <a:t>"a photo of a CEO"
50장 중 남자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91840" y="3566160"/>
            <a:ext cx="256032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 latinLnBrk="0">
              <a:spcAft>
                <a:spcPts val="600"/>
              </a:spcAft>
            </a:pPr>
            <a:r>
              <a:rPr lang="ko-KR" altLang="en-US" sz="6600" b="1">
                <a:solidFill>
                  <a:srgbClr val="FFFFFF"/>
                </a:solidFill>
                <a:latin typeface="Malgun Gothic"/>
              </a:rPr>
              <a:t>0%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91840" y="4709160"/>
            <a:ext cx="256032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 latinLnBrk="0">
              <a:spcAft>
                <a:spcPts val="600"/>
              </a:spcAft>
            </a:pPr>
            <a:r>
              <a:rPr lang="ko-KR" altLang="en-US" sz="1400" b="0">
                <a:solidFill>
                  <a:srgbClr val="C9CCD3"/>
                </a:solidFill>
                <a:latin typeface="Malgun Gothic"/>
              </a:rPr>
              <a:t>"a photo of a nurse"
50장 중 남자</a:t>
            </a:r>
          </a:p>
        </p:txBody>
      </p:sp>
      <p:pic>
        <p:nvPicPr>
          <p:cNvPr id="8" name="Picture 7" descr="CEO 원본 생성 이미지, 시드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188720"/>
            <a:ext cx="1691640" cy="1691640"/>
          </a:xfrm>
          <a:prstGeom prst="rect">
            <a:avLst/>
          </a:prstGeom>
        </p:spPr>
      </p:pic>
      <p:pic>
        <p:nvPicPr>
          <p:cNvPr id="9" name="Picture 8" descr="CEO 원본 생성 이미지, 시드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83879" y="1188720"/>
            <a:ext cx="1691640" cy="1684900"/>
          </a:xfrm>
          <a:prstGeom prst="rect">
            <a:avLst/>
          </a:prstGeom>
        </p:spPr>
      </p:pic>
      <p:pic>
        <p:nvPicPr>
          <p:cNvPr id="10" name="Picture 9" descr="CEO 원본 생성 이미지, 시드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66960" y="1188720"/>
            <a:ext cx="1691640" cy="1691640"/>
          </a:xfrm>
          <a:prstGeom prst="rect">
            <a:avLst/>
          </a:prstGeom>
        </p:spPr>
      </p:pic>
      <p:pic>
        <p:nvPicPr>
          <p:cNvPr id="11" name="Picture 10" descr="nurse 원본 생성 이미지, 시드 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0" y="3063239"/>
            <a:ext cx="1691640" cy="1691640"/>
          </a:xfrm>
          <a:prstGeom prst="rect">
            <a:avLst/>
          </a:prstGeom>
        </p:spPr>
      </p:pic>
      <p:pic>
        <p:nvPicPr>
          <p:cNvPr id="12" name="Picture 11" descr="nurse 원본 생성 이미지, 시드 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83879" y="3063239"/>
            <a:ext cx="1691640" cy="1684900"/>
          </a:xfrm>
          <a:prstGeom prst="rect">
            <a:avLst/>
          </a:prstGeom>
        </p:spPr>
      </p:pic>
      <p:pic>
        <p:nvPicPr>
          <p:cNvPr id="13" name="Picture 12" descr="nurse 원본 생성 이미지, 시드 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966960" y="3063239"/>
            <a:ext cx="1691640" cy="169164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400800" y="5074920"/>
            <a:ext cx="5257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 latinLnBrk="0">
              <a:spcAft>
                <a:spcPts val="600"/>
              </a:spcAft>
            </a:pPr>
            <a:r>
              <a:rPr lang="ko-KR" altLang="en-US" sz="1100" b="0">
                <a:solidFill>
                  <a:srgbClr val="A8ACB6"/>
                </a:solidFill>
                <a:latin typeface="Malgun Gothic"/>
              </a:rPr>
              <a:t>원본 생성 이미지 (위: CEO, 아래: nurse)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00800"/>
            <a:ext cx="9875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 latinLnBrk="0">
              <a:spcAft>
                <a:spcPts val="600"/>
              </a:spcAft>
            </a:pPr>
            <a:r>
              <a:rPr lang="ko-KR" altLang="en-US" sz="1000" b="0">
                <a:solidFill>
                  <a:srgbClr val="A8ACB6"/>
                </a:solidFill>
                <a:latin typeface="Malgun Gothic"/>
              </a:rPr>
              <a:t>출처: 05 노트북 셀 10 (남성 비율 표, original 열) · 이미지: figures/grid_CEO.png, grid_nurse.png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55680" y="6400800"/>
            <a:ext cx="48463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eaLnBrk="0" latinLnBrk="0">
              <a:spcAft>
                <a:spcPts val="600"/>
              </a:spcAft>
            </a:pPr>
            <a:r>
              <a:rPr lang="ko-KR" altLang="en-US" sz="1000" b="0">
                <a:solidFill>
                  <a:srgbClr val="A8ACB6"/>
                </a:solidFill>
                <a:latin typeface="Malgun Gothic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65760"/>
            <a:ext cx="11064240" cy="822960"/>
          </a:xfrm>
        </p:spPr>
        <p:txBody>
          <a:bodyPr lIns="0" rIns="0" anchor="ctr"/>
          <a:lstStyle/>
          <a:p>
            <a:pPr algn="l" eaLnBrk="0" latinLnBrk="0"/>
            <a:r>
              <a:rPr lang="ko-KR" altLang="en-US" sz="3200" b="1">
                <a:solidFill>
                  <a:srgbClr val="1C1F2B"/>
                </a:solidFill>
                <a:latin typeface="Malgun Gothic"/>
              </a:rPr>
              <a:t>블랙박스를 열어 보기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10642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 latinLnBrk="0">
              <a:spcAft>
                <a:spcPts val="600"/>
              </a:spcAft>
            </a:pPr>
            <a:r>
              <a:rPr lang="ko-KR" altLang="en-US" sz="1800" b="0">
                <a:solidFill>
                  <a:srgbClr val="6B707C"/>
                </a:solidFill>
                <a:latin typeface="Malgun Gothic"/>
              </a:rPr>
              <a:t>AI의 투명성: 결과만 보지 않고, 내부를 보이게 만들고, 그것이 원인인지 확인한다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2103120"/>
            <a:ext cx="3474720" cy="356616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latinLnBrk="0"/>
            <a:endParaRPr/>
          </a:p>
        </p:txBody>
      </p:sp>
      <p:sp>
        <p:nvSpPr>
          <p:cNvPr id="5" name="Oval 4"/>
          <p:cNvSpPr/>
          <p:nvPr/>
        </p:nvSpPr>
        <p:spPr>
          <a:xfrm>
            <a:off x="868680" y="2423160"/>
            <a:ext cx="685800" cy="685800"/>
          </a:xfrm>
          <a:prstGeom prst="ellipse">
            <a:avLst/>
          </a:prstGeom>
          <a:solidFill>
            <a:srgbClr val="2E6F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0" latinLnBrk="0"/>
            <a:r>
              <a:rPr lang="ko-KR" altLang="en-US" sz="2200" b="1">
                <a:solidFill>
                  <a:srgbClr val="FFFFFF"/>
                </a:solidFill>
                <a:latin typeface="Malgun Gothic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3337560"/>
            <a:ext cx="28346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 latinLnBrk="0">
              <a:spcAft>
                <a:spcPts val="600"/>
              </a:spcAft>
            </a:pPr>
            <a:r>
              <a:rPr lang="ko-KR" altLang="en-US" sz="2400" b="1">
                <a:solidFill>
                  <a:srgbClr val="1C1F2B"/>
                </a:solidFill>
                <a:latin typeface="Malgun Gothic"/>
              </a:rPr>
              <a:t>본다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977639"/>
            <a:ext cx="28346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 latinLnBrk="0">
              <a:spcAft>
                <a:spcPts val="600"/>
              </a:spcAft>
            </a:pPr>
            <a:r>
              <a:rPr lang="ko-KR" altLang="en-US" sz="1500" b="0">
                <a:solidFill>
                  <a:srgbClr val="6B707C"/>
                </a:solidFill>
                <a:latin typeface="Malgun Gothic"/>
              </a:rPr>
              <a:t>AI 내부의 숫자를 그림으로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4709160"/>
            <a:ext cx="28346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 latinLnBrk="0">
              <a:spcAft>
                <a:spcPts val="600"/>
              </a:spcAft>
            </a:pPr>
            <a:r>
              <a:rPr lang="ko-KR" altLang="en-US" sz="1600" b="1">
                <a:solidFill>
                  <a:srgbClr val="1C1F2B"/>
                </a:solidFill>
                <a:latin typeface="Malgun Gothic"/>
              </a:rPr>
              <a:t>성별을 가르는 방향이 있나?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5257800"/>
            <a:ext cx="2834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 latinLnBrk="0">
              <a:spcAft>
                <a:spcPts val="600"/>
              </a:spcAft>
            </a:pPr>
            <a:r>
              <a:rPr lang="ko-KR" altLang="en-US" sz="1100" b="0">
                <a:solidFill>
                  <a:srgbClr val="6B707C"/>
                </a:solidFill>
                <a:latin typeface="Malgun Gothic"/>
              </a:rPr>
              <a:t>슬라이드 5~7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069080" y="3886200"/>
            <a:ext cx="228599" cy="0"/>
          </a:xfrm>
          <a:prstGeom prst="line">
            <a:avLst/>
          </a:prstGeom>
          <a:ln w="25400">
            <a:solidFill>
              <a:srgbClr val="9A9EA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4343400" y="2103120"/>
            <a:ext cx="3474720" cy="356616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latinLnBrk="0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4663440" y="2423160"/>
            <a:ext cx="685800" cy="685800"/>
          </a:xfrm>
          <a:prstGeom prst="ellipse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0" latinLnBrk="0"/>
            <a:r>
              <a:rPr lang="ko-KR" altLang="en-US" sz="2200" b="1">
                <a:solidFill>
                  <a:srgbClr val="FFFFFF"/>
                </a:solidFill>
                <a:latin typeface="Malgun Gothic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3337560"/>
            <a:ext cx="28346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 latinLnBrk="0">
              <a:spcAft>
                <a:spcPts val="600"/>
              </a:spcAft>
            </a:pPr>
            <a:r>
              <a:rPr lang="ko-KR" altLang="en-US" sz="2400" b="1">
                <a:solidFill>
                  <a:srgbClr val="1C1F2B"/>
                </a:solidFill>
                <a:latin typeface="Malgun Gothic"/>
              </a:rPr>
              <a:t>추적한다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3977639"/>
            <a:ext cx="28346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 latinLnBrk="0">
              <a:spcAft>
                <a:spcPts val="600"/>
              </a:spcAft>
            </a:pPr>
            <a:r>
              <a:rPr lang="ko-KR" altLang="en-US" sz="1500" b="0">
                <a:solidFill>
                  <a:srgbClr val="6B707C"/>
                </a:solidFill>
                <a:latin typeface="Malgun Gothic"/>
              </a:rPr>
              <a:t>문장을 읽는 12단계(층)를 따라가며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3440" y="4709160"/>
            <a:ext cx="28346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 latinLnBrk="0">
              <a:spcAft>
                <a:spcPts val="600"/>
              </a:spcAft>
            </a:pPr>
            <a:r>
              <a:rPr lang="ko-KR" altLang="en-US" sz="1600" b="1">
                <a:solidFill>
                  <a:srgbClr val="1C1F2B"/>
                </a:solidFill>
                <a:latin typeface="Malgun Gothic"/>
              </a:rPr>
              <a:t>편향은 몇 번째 층에서 생기나?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3440" y="5257800"/>
            <a:ext cx="2834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 latinLnBrk="0">
              <a:spcAft>
                <a:spcPts val="600"/>
              </a:spcAft>
            </a:pPr>
            <a:r>
              <a:rPr lang="ko-KR" altLang="en-US" sz="1100" b="0">
                <a:solidFill>
                  <a:srgbClr val="6B707C"/>
                </a:solidFill>
                <a:latin typeface="Malgun Gothic"/>
              </a:rPr>
              <a:t>슬라이드 8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863840" y="3886200"/>
            <a:ext cx="228600" cy="0"/>
          </a:xfrm>
          <a:prstGeom prst="line">
            <a:avLst/>
          </a:prstGeom>
          <a:ln w="25400">
            <a:solidFill>
              <a:srgbClr val="9A9EA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8138160" y="2103120"/>
            <a:ext cx="3474720" cy="356616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latinLnBrk="0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8458200" y="2423160"/>
            <a:ext cx="685800" cy="685800"/>
          </a:xfrm>
          <a:prstGeom prst="ellipse">
            <a:avLst/>
          </a:prstGeom>
          <a:solidFill>
            <a:srgbClr val="D149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0" latinLnBrk="0"/>
            <a:r>
              <a:rPr lang="ko-KR" altLang="en-US" sz="2200" b="1">
                <a:solidFill>
                  <a:srgbClr val="FFFFFF"/>
                </a:solidFill>
                <a:latin typeface="Malgun Gothi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58200" y="3337560"/>
            <a:ext cx="28346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 latinLnBrk="0">
              <a:spcAft>
                <a:spcPts val="600"/>
              </a:spcAft>
            </a:pPr>
            <a:r>
              <a:rPr lang="ko-KR" altLang="en-US" sz="2400" b="1">
                <a:solidFill>
                  <a:srgbClr val="1C1F2B"/>
                </a:solidFill>
                <a:latin typeface="Malgun Gothic"/>
              </a:rPr>
              <a:t>움직여 본다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58200" y="3977639"/>
            <a:ext cx="28346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 latinLnBrk="0">
              <a:spcAft>
                <a:spcPts val="600"/>
              </a:spcAft>
            </a:pPr>
            <a:r>
              <a:rPr lang="ko-KR" altLang="en-US" sz="1500" b="0">
                <a:solidFill>
                  <a:srgbClr val="6B707C"/>
                </a:solidFill>
                <a:latin typeface="Malgun Gothic"/>
              </a:rPr>
              <a:t>그 방향만 바꿔서 이미지를 생성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58200" y="4709160"/>
            <a:ext cx="28346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 latinLnBrk="0">
              <a:spcAft>
                <a:spcPts val="600"/>
              </a:spcAft>
            </a:pPr>
            <a:r>
              <a:rPr lang="ko-KR" altLang="en-US" sz="1600" b="1">
                <a:solidFill>
                  <a:srgbClr val="1C1F2B"/>
                </a:solidFill>
                <a:latin typeface="Malgun Gothic"/>
              </a:rPr>
              <a:t>정말 이미지의 성별이 바뀌나?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58200" y="5257800"/>
            <a:ext cx="2834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 latinLnBrk="0">
              <a:spcAft>
                <a:spcPts val="600"/>
              </a:spcAft>
            </a:pPr>
            <a:r>
              <a:rPr lang="ko-KR" altLang="en-US" sz="1100" b="0">
                <a:solidFill>
                  <a:srgbClr val="6B707C"/>
                </a:solidFill>
                <a:latin typeface="Malgun Gothic"/>
              </a:rPr>
              <a:t>슬라이드 9~12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55680" y="6400800"/>
            <a:ext cx="48463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eaLnBrk="0" latinLnBrk="0">
              <a:spcAft>
                <a:spcPts val="600"/>
              </a:spcAft>
            </a:pPr>
            <a:r>
              <a:rPr lang="ko-KR" altLang="en-US" sz="1000" b="0">
                <a:solidFill>
                  <a:srgbClr val="6B707C"/>
                </a:solidFill>
                <a:latin typeface="Malgun Gothic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65760"/>
            <a:ext cx="11064240" cy="822960"/>
          </a:xfrm>
        </p:spPr>
        <p:txBody>
          <a:bodyPr lIns="0" rIns="0" anchor="ctr"/>
          <a:lstStyle/>
          <a:p>
            <a:pPr algn="l" eaLnBrk="0" latinLnBrk="0"/>
            <a:r>
              <a:rPr lang="ko-KR" altLang="en-US" sz="3200" b="1">
                <a:solidFill>
                  <a:srgbClr val="1C1F2B"/>
                </a:solidFill>
                <a:latin typeface="Malgun Gothic"/>
              </a:rPr>
              <a:t>Stable Diffusion 1.5는 어떻게 그림을 그릴까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10642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 latinLnBrk="0">
              <a:spcAft>
                <a:spcPts val="600"/>
              </a:spcAft>
            </a:pPr>
            <a:r>
              <a:rPr lang="ko-KR" altLang="en-US" sz="1700" b="0">
                <a:solidFill>
                  <a:srgbClr val="6B707C"/>
                </a:solidFill>
                <a:latin typeface="Malgun Gothic"/>
              </a:rPr>
              <a:t>글을 숫자로 읽고(텍스트 인코더) → 노이즈에서 그림을 다듬고(U-Net) → 픽셀로 바꾼다(VAE)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3200400"/>
            <a:ext cx="1417320" cy="1005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5400">
            <a:solidFill>
              <a:srgbClr val="D5D8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latinLnBrk="0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3291840"/>
            <a:ext cx="12344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 latinLnBrk="0">
              <a:spcAft>
                <a:spcPts val="200"/>
              </a:spcAft>
            </a:pPr>
            <a:r>
              <a:rPr lang="ko-KR" altLang="en-US" sz="1200" b="0">
                <a:solidFill>
                  <a:srgbClr val="6B707C"/>
                </a:solidFill>
                <a:latin typeface="Malgun Gothic"/>
              </a:rPr>
              <a:t>입력</a:t>
            </a:r>
          </a:p>
          <a:p>
            <a:pPr algn="l" eaLnBrk="0" latinLnBrk="0">
              <a:spcAft>
                <a:spcPts val="600"/>
              </a:spcAft>
            </a:pPr>
            <a:r>
              <a:rPr lang="ko-KR" altLang="en-US" sz="1400" b="1">
                <a:solidFill>
                  <a:srgbClr val="1C1F2B"/>
                </a:solidFill>
                <a:latin typeface="Malgun Gothic"/>
              </a:rPr>
              <a:t>"a photo of a CEO"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331720" y="2514600"/>
            <a:ext cx="2377440" cy="2377440"/>
          </a:xfrm>
          <a:prstGeom prst="roundRect">
            <a:avLst>
              <a:gd name="adj" fmla="val 8000"/>
            </a:avLst>
          </a:prstGeom>
          <a:solidFill>
            <a:srgbClr val="FCF0DC"/>
          </a:solidFill>
          <a:ln w="25400">
            <a:solidFill>
              <a:srgbClr val="E8A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latinLnBrk="0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560320" y="2697480"/>
            <a:ext cx="19202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 latinLnBrk="0">
              <a:spcAft>
                <a:spcPts val="600"/>
              </a:spcAft>
            </a:pPr>
            <a:r>
              <a:rPr lang="ko-KR" altLang="en-US" sz="1900" b="1">
                <a:solidFill>
                  <a:srgbClr val="1C1F2B"/>
                </a:solidFill>
                <a:latin typeface="Malgun Gothic"/>
              </a:rPr>
              <a:t>텍스트 인코더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60320" y="3200400"/>
            <a:ext cx="19202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 latinLnBrk="0">
              <a:spcAft>
                <a:spcPts val="600"/>
              </a:spcAft>
            </a:pPr>
            <a:r>
              <a:rPr lang="ko-KR" altLang="en-US" sz="1300" b="0">
                <a:solidFill>
                  <a:srgbClr val="6B707C"/>
                </a:solidFill>
                <a:latin typeface="Malgun Gothic"/>
              </a:rPr>
              <a:t>CLIP ViT-L/14의
텍스트 부분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60320" y="3840480"/>
            <a:ext cx="192024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 latinLnBrk="0">
              <a:spcAft>
                <a:spcPts val="600"/>
              </a:spcAft>
            </a:pPr>
            <a:r>
              <a:rPr lang="ko-KR" altLang="en-US" sz="1300" b="0">
                <a:solidFill>
                  <a:srgbClr val="1C1F2B"/>
                </a:solidFill>
                <a:latin typeface="Malgun Gothic"/>
              </a:rPr>
              <a:t>12층
77칸 × 768개 숫자
문장의 뜻을 숫자로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993391" y="3703320"/>
            <a:ext cx="292609" cy="0"/>
          </a:xfrm>
          <a:prstGeom prst="line">
            <a:avLst/>
          </a:prstGeom>
          <a:ln w="25400">
            <a:solidFill>
              <a:srgbClr val="9A9EA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074920" y="2514600"/>
            <a:ext cx="2377440" cy="237744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latinLnBrk="0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303520" y="2697480"/>
            <a:ext cx="19202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 latinLnBrk="0">
              <a:spcAft>
                <a:spcPts val="600"/>
              </a:spcAft>
            </a:pPr>
            <a:r>
              <a:rPr lang="ko-KR" altLang="en-US" sz="1900" b="1">
                <a:solidFill>
                  <a:srgbClr val="1C1F2B"/>
                </a:solidFill>
                <a:latin typeface="Malgun Gothic"/>
              </a:rPr>
              <a:t>U-Net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0" y="3200400"/>
            <a:ext cx="19202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 latinLnBrk="0">
              <a:spcAft>
                <a:spcPts val="600"/>
              </a:spcAft>
            </a:pPr>
            <a:r>
              <a:rPr lang="ko-KR" altLang="en-US" sz="1300" b="0">
                <a:solidFill>
                  <a:srgbClr val="6B707C"/>
                </a:solidFill>
                <a:latin typeface="Malgun Gothic"/>
              </a:rPr>
              <a:t>그림을 만드는 본체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0" y="3840480"/>
            <a:ext cx="192024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 latinLnBrk="0">
              <a:spcAft>
                <a:spcPts val="600"/>
              </a:spcAft>
            </a:pPr>
            <a:r>
              <a:rPr lang="ko-KR" altLang="en-US" sz="1300" b="0">
                <a:solidFill>
                  <a:srgbClr val="1C1F2B"/>
                </a:solidFill>
                <a:latin typeface="Malgun Gothic"/>
              </a:rPr>
              <a:t>노이즈에서 시작해
25단계에 걸쳐 다듬음
텍스트 숫자를 계속 참고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736592" y="3703320"/>
            <a:ext cx="292608" cy="0"/>
          </a:xfrm>
          <a:prstGeom prst="line">
            <a:avLst/>
          </a:prstGeom>
          <a:ln w="25400">
            <a:solidFill>
              <a:srgbClr val="9A9EA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818120" y="2514600"/>
            <a:ext cx="2377440" cy="237744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latinLnBrk="0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046720" y="2697480"/>
            <a:ext cx="19202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 latinLnBrk="0">
              <a:spcAft>
                <a:spcPts val="600"/>
              </a:spcAft>
            </a:pPr>
            <a:r>
              <a:rPr lang="ko-KR" altLang="en-US" sz="1900" b="1">
                <a:solidFill>
                  <a:srgbClr val="1C1F2B"/>
                </a:solidFill>
                <a:latin typeface="Malgun Gothic"/>
              </a:rPr>
              <a:t>VAE 디코더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720" y="3200400"/>
            <a:ext cx="19202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 latinLnBrk="0">
              <a:spcAft>
                <a:spcPts val="600"/>
              </a:spcAft>
            </a:pPr>
            <a:r>
              <a:rPr lang="ko-KR" altLang="en-US" sz="1300" b="0">
                <a:solidFill>
                  <a:srgbClr val="6B707C"/>
                </a:solidFill>
                <a:latin typeface="Malgun Gothic"/>
              </a:rPr>
              <a:t>마무리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20" y="3840480"/>
            <a:ext cx="192024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 latinLnBrk="0">
              <a:spcAft>
                <a:spcPts val="600"/>
              </a:spcAft>
            </a:pPr>
            <a:r>
              <a:rPr lang="ko-KR" altLang="en-US" sz="1300" b="0">
                <a:solidFill>
                  <a:srgbClr val="1C1F2B"/>
                </a:solidFill>
                <a:latin typeface="Malgun Gothic"/>
              </a:rPr>
              <a:t>압축된 그림을
실제 픽셀 이미지로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479792" y="3703320"/>
            <a:ext cx="292608" cy="0"/>
          </a:xfrm>
          <a:prstGeom prst="line">
            <a:avLst/>
          </a:prstGeom>
          <a:ln w="25400">
            <a:solidFill>
              <a:srgbClr val="9A9EA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0222992" y="3703320"/>
            <a:ext cx="292608" cy="0"/>
          </a:xfrm>
          <a:prstGeom prst="line">
            <a:avLst/>
          </a:prstGeom>
          <a:ln w="25400">
            <a:solidFill>
              <a:srgbClr val="9A9EA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2" name="Picture 21" descr="생성된 CEO 이미지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61320" y="3154680"/>
            <a:ext cx="1097280" cy="109728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331720" y="2057400"/>
            <a:ext cx="23774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 latinLnBrk="0">
              <a:spcAft>
                <a:spcPts val="600"/>
              </a:spcAft>
            </a:pPr>
            <a:r>
              <a:rPr lang="ko-KR" altLang="en-US" sz="1500" b="1">
                <a:solidFill>
                  <a:srgbClr val="E8A33D"/>
                </a:solidFill>
                <a:latin typeface="Malgun Gothic"/>
              </a:rPr>
              <a:t>★ 우리가 건드린 곳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5257800"/>
            <a:ext cx="11064240" cy="86868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latinLnBrk="0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22960" y="5376672"/>
            <a:ext cx="105156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 latinLnBrk="0">
              <a:spcAft>
                <a:spcPts val="300"/>
              </a:spcAft>
            </a:pPr>
            <a:r>
              <a:rPr lang="ko-KR" altLang="en-US" sz="1500" b="1">
                <a:solidFill>
                  <a:srgbClr val="1C1F2B"/>
                </a:solidFill>
                <a:latin typeface="Malgun Gothic"/>
              </a:rPr>
              <a:t>U-Net과 VAE는 그대로, 재학습도 없음. 텍스트 인코더가 U-Net에 넘기는 숫자만 바꿨다</a:t>
            </a:r>
          </a:p>
          <a:p>
            <a:pPr algn="l" eaLnBrk="0" latinLnBrk="0">
              <a:spcAft>
                <a:spcPts val="600"/>
              </a:spcAft>
            </a:pPr>
            <a:r>
              <a:rPr lang="ko-KR" altLang="en-US" sz="1200" b="0">
                <a:solidFill>
                  <a:srgbClr val="6B707C"/>
                </a:solidFill>
                <a:latin typeface="Malgun Gothic"/>
              </a:rPr>
              <a:t>모델: stable-diffusion-v1-5 (fp16) · 성별 판정용 CLIP: openai/clip-vit-large-patch14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400800"/>
            <a:ext cx="9875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 latinLnBrk="0">
              <a:spcAft>
                <a:spcPts val="600"/>
              </a:spcAft>
            </a:pPr>
            <a:r>
              <a:rPr lang="ko-KR" altLang="en-US" sz="1000" b="0">
                <a:solidFill>
                  <a:srgbClr val="6B707C"/>
                </a:solidFill>
                <a:latin typeface="Malgun Gothic"/>
              </a:rPr>
              <a:t>출처: download.models.py (모델 이름) · src/utils.py (load_pipeline, prompt_embeds), src/prompts.py (25 steps)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155680" y="6400800"/>
            <a:ext cx="48463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eaLnBrk="0" latinLnBrk="0">
              <a:spcAft>
                <a:spcPts val="600"/>
              </a:spcAft>
            </a:pPr>
            <a:r>
              <a:rPr lang="ko-KR" altLang="en-US" sz="1000" b="0">
                <a:solidFill>
                  <a:srgbClr val="6B707C"/>
                </a:solidFill>
                <a:latin typeface="Malgun Gothic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65760"/>
            <a:ext cx="11064240" cy="822960"/>
          </a:xfrm>
        </p:spPr>
        <p:txBody>
          <a:bodyPr lIns="0" rIns="0" anchor="ctr"/>
          <a:lstStyle/>
          <a:p>
            <a:pPr algn="l" eaLnBrk="0" latinLnBrk="0"/>
            <a:r>
              <a:rPr lang="ko-KR" altLang="en-US" sz="3200" b="1">
                <a:solidFill>
                  <a:srgbClr val="1C1F2B"/>
                </a:solidFill>
                <a:latin typeface="Malgun Gothic"/>
              </a:rPr>
              <a:t>우리가 건드린 곳: 어디를, 왜, 무슨 의미인가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417320"/>
            <a:ext cx="3474720" cy="470916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latinLnBrk="0"/>
            <a:endParaRPr/>
          </a:p>
        </p:txBody>
      </p:sp>
      <p:sp>
        <p:nvSpPr>
          <p:cNvPr id="4" name="Oval 3"/>
          <p:cNvSpPr/>
          <p:nvPr/>
        </p:nvSpPr>
        <p:spPr>
          <a:xfrm>
            <a:off x="822959" y="1645920"/>
            <a:ext cx="457200" cy="457200"/>
          </a:xfrm>
          <a:prstGeom prst="ellipse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0" latinLnBrk="0"/>
            <a:r>
              <a:rPr lang="ko-KR" altLang="en-US" sz="1600" b="1">
                <a:solidFill>
                  <a:srgbClr val="FFFFFF"/>
                </a:solidFill>
                <a:latin typeface="Malgun Gothic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19" y="1645920"/>
            <a:ext cx="237744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 eaLnBrk="0" latinLnBrk="0">
              <a:spcAft>
                <a:spcPts val="600"/>
              </a:spcAft>
            </a:pPr>
            <a:r>
              <a:rPr lang="ko-KR" altLang="en-US" sz="2000" b="1">
                <a:solidFill>
                  <a:srgbClr val="1C1F2B"/>
                </a:solidFill>
                <a:latin typeface="Malgun Gothic"/>
              </a:rPr>
              <a:t>어디를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59" y="2377440"/>
            <a:ext cx="2926080" cy="3566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 latinLnBrk="0">
              <a:spcAft>
                <a:spcPts val="1000"/>
              </a:spcAft>
            </a:pPr>
            <a:r>
              <a:rPr lang="ko-KR" altLang="en-US" sz="1600" b="1">
                <a:solidFill>
                  <a:srgbClr val="1C1F2B"/>
                </a:solidFill>
                <a:latin typeface="Malgun Gothic"/>
              </a:rPr>
              <a:t>텍스트 인코더가 U-Net에 넘기는 최종 숫자</a:t>
            </a:r>
          </a:p>
          <a:p>
            <a:pPr algn="l" eaLnBrk="0" latinLnBrk="0">
              <a:spcAft>
                <a:spcPts val="1600"/>
              </a:spcAft>
            </a:pPr>
            <a:r>
              <a:rPr lang="ko-KR" altLang="en-US" sz="1500" b="0">
                <a:solidFill>
                  <a:srgbClr val="1C1F2B"/>
                </a:solidFill>
                <a:latin typeface="Malgun Gothic"/>
              </a:rPr>
              <a:t>그중 직업 단어부터 문장 끝까지의 위치를 성별 방향으로만 옮겼다</a:t>
            </a:r>
          </a:p>
          <a:p>
            <a:pPr algn="l" eaLnBrk="0" latinLnBrk="0">
              <a:spcAft>
                <a:spcPts val="400"/>
              </a:spcAft>
            </a:pPr>
            <a:r>
              <a:rPr lang="ko-KR" altLang="en-US" sz="1500" b="1">
                <a:solidFill>
                  <a:srgbClr val="1C1F2B"/>
                </a:solidFill>
                <a:latin typeface="Malgun Gothic"/>
              </a:rPr>
              <a:t>옮기는 위치 = lam</a:t>
            </a:r>
          </a:p>
          <a:p>
            <a:pPr algn="l" eaLnBrk="0" latinLnBrk="0">
              <a:spcAft>
                <a:spcPts val="600"/>
              </a:spcAft>
            </a:pPr>
            <a:r>
              <a:rPr lang="ko-KR" altLang="en-US" sz="1400" b="0">
                <a:solidFill>
                  <a:srgbClr val="6B707C"/>
                </a:solidFill>
                <a:latin typeface="Malgun Gothic"/>
              </a:rPr>
              <a:t>−1 여성 단어 평균 · 0 가운데 · +1 남성 단어 평균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1417320"/>
            <a:ext cx="3474720" cy="470916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latinLnBrk="0"/>
            <a:endParaRPr/>
          </a:p>
        </p:txBody>
      </p:sp>
      <p:sp>
        <p:nvSpPr>
          <p:cNvPr id="8" name="Oval 7"/>
          <p:cNvSpPr/>
          <p:nvPr/>
        </p:nvSpPr>
        <p:spPr>
          <a:xfrm>
            <a:off x="4617720" y="1645920"/>
            <a:ext cx="457200" cy="457200"/>
          </a:xfrm>
          <a:prstGeom prst="ellipse">
            <a:avLst/>
          </a:prstGeom>
          <a:solidFill>
            <a:srgbClr val="2E6F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0" latinLnBrk="0"/>
            <a:r>
              <a:rPr lang="ko-KR" altLang="en-US" sz="1600" b="1">
                <a:solidFill>
                  <a:srgbClr val="FFFFFF"/>
                </a:solidFill>
                <a:latin typeface="Malgun Gothic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12080" y="1645920"/>
            <a:ext cx="237744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 eaLnBrk="0" latinLnBrk="0">
              <a:spcAft>
                <a:spcPts val="600"/>
              </a:spcAft>
            </a:pPr>
            <a:r>
              <a:rPr lang="ko-KR" altLang="en-US" sz="2000" b="1">
                <a:solidFill>
                  <a:srgbClr val="1C1F2B"/>
                </a:solidFill>
                <a:latin typeface="Malgun Gothic"/>
              </a:rPr>
              <a:t>왜 여기인가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17720" y="2377440"/>
            <a:ext cx="2926080" cy="3566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 latinLnBrk="0">
              <a:spcAft>
                <a:spcPts val="1400"/>
              </a:spcAft>
            </a:pPr>
            <a:r>
              <a:rPr lang="ko-KR" altLang="en-US" sz="1500" b="0">
                <a:solidFill>
                  <a:srgbClr val="1C1F2B"/>
                </a:solidFill>
                <a:latin typeface="Malgun Gothic"/>
              </a:rPr>
              <a:t>① 프롬프트의 뜻이 처음 숫자가 되는 곳. 'CEO'의 의미가 여기서 정해진다</a:t>
            </a:r>
          </a:p>
          <a:p>
            <a:pPr algn="l" eaLnBrk="0" latinLnBrk="0">
              <a:spcAft>
                <a:spcPts val="1400"/>
              </a:spcAft>
            </a:pPr>
            <a:r>
              <a:rPr lang="ko-KR" altLang="en-US" sz="1500" b="0">
                <a:solidFill>
                  <a:srgbClr val="1C1F2B"/>
                </a:solidFill>
                <a:latin typeface="Malgun Gothic"/>
              </a:rPr>
              <a:t>② 남녀 단어 쌍으로 방향을 만들고 검증할 수 있어 해석이 쉽다</a:t>
            </a:r>
          </a:p>
          <a:p>
            <a:pPr algn="l" eaLnBrk="0" latinLnBrk="0">
              <a:spcAft>
                <a:spcPts val="600"/>
              </a:spcAft>
            </a:pPr>
            <a:r>
              <a:rPr lang="ko-KR" altLang="en-US" sz="1500" b="0">
                <a:solidFill>
                  <a:srgbClr val="1C1F2B"/>
                </a:solidFill>
                <a:latin typeface="Malgun Gothic"/>
              </a:rPr>
              <a:t>③ 재학습 없이 숫자 하나만 바꿔 원인 → 결과를 비교할 수 있다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1417320"/>
            <a:ext cx="3474720" cy="470916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latinLnBrk="0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8412480" y="1645920"/>
            <a:ext cx="457200" cy="457200"/>
          </a:xfrm>
          <a:prstGeom prst="ellipse">
            <a:avLst/>
          </a:prstGeom>
          <a:solidFill>
            <a:srgbClr val="D149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0" latinLnBrk="0"/>
            <a:r>
              <a:rPr lang="ko-KR" altLang="en-US" sz="1600" b="1">
                <a:solidFill>
                  <a:srgbClr val="FFFFFF"/>
                </a:solidFill>
                <a:latin typeface="Malgun Gothic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06840" y="1645920"/>
            <a:ext cx="237744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 eaLnBrk="0" latinLnBrk="0">
              <a:spcAft>
                <a:spcPts val="600"/>
              </a:spcAft>
            </a:pPr>
            <a:r>
              <a:rPr lang="ko-KR" altLang="en-US" sz="2000" b="1">
                <a:solidFill>
                  <a:srgbClr val="1C1F2B"/>
                </a:solidFill>
                <a:latin typeface="Malgun Gothic"/>
              </a:rPr>
              <a:t>무슨 의미인가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0" y="2377440"/>
            <a:ext cx="2926080" cy="3566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 latinLnBrk="0">
              <a:spcAft>
                <a:spcPts val="600"/>
              </a:spcAft>
            </a:pPr>
            <a:r>
              <a:rPr lang="ko-KR" altLang="en-US" sz="1600" b="1">
                <a:solidFill>
                  <a:srgbClr val="1C1F2B"/>
                </a:solidFill>
                <a:latin typeface="Malgun Gothic"/>
              </a:rPr>
              <a:t>여기만 바꿔도 그림의 성별이 바뀐다면</a:t>
            </a:r>
          </a:p>
          <a:p>
            <a:pPr algn="l" eaLnBrk="0" latinLnBrk="0">
              <a:spcAft>
                <a:spcPts val="1200"/>
              </a:spcAft>
            </a:pPr>
            <a:r>
              <a:rPr lang="ko-KR" altLang="en-US" sz="1500" b="0">
                <a:solidFill>
                  <a:srgbClr val="1C1F2B"/>
                </a:solidFill>
                <a:latin typeface="Malgun Gothic"/>
              </a:rPr>
              <a:t>→ 편향은 AI가 '단어를 읽는 단계'에 이미 담겨 있다</a:t>
            </a:r>
          </a:p>
          <a:p>
            <a:pPr algn="l" eaLnBrk="0" latinLnBrk="0">
              <a:spcAft>
                <a:spcPts val="1600"/>
              </a:spcAft>
            </a:pPr>
            <a:r>
              <a:rPr lang="ko-KR" altLang="en-US" sz="1500" b="0">
                <a:solidFill>
                  <a:srgbClr val="1C1F2B"/>
                </a:solidFill>
                <a:latin typeface="Malgun Gothic"/>
              </a:rPr>
              <a:t>→ 결과를 좌우하는 내부 숫자를 짚을 수 있다 = 투명성</a:t>
            </a:r>
          </a:p>
          <a:p>
            <a:pPr algn="l" eaLnBrk="0" latinLnBrk="0">
              <a:spcAft>
                <a:spcPts val="600"/>
              </a:spcAft>
            </a:pPr>
            <a:r>
              <a:rPr lang="ko-KR" altLang="en-US" sz="1300" b="0">
                <a:solidFill>
                  <a:srgbClr val="6B707C"/>
                </a:solidFill>
                <a:latin typeface="Malgun Gothic"/>
              </a:rPr>
              <a:t>단, U-Net 쪽에 편향이 없다는 뜻은 아니다 (Discussion)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00800"/>
            <a:ext cx="9875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 latinLnBrk="0">
              <a:spcAft>
                <a:spcPts val="600"/>
              </a:spcAft>
            </a:pPr>
            <a:r>
              <a:rPr lang="ko-KR" altLang="en-US" sz="1000" b="0">
                <a:solidFill>
                  <a:srgbClr val="6B707C"/>
                </a:solidFill>
                <a:latin typeface="Malgun Gothic"/>
              </a:rPr>
              <a:t>출처: src/utils.py (intervene: 직업 토큰부터 끝까지 이동, gender_anchors: c, s) · 04 노트북 셀 1 (c = −1.19, s = 6.42)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55680" y="6400800"/>
            <a:ext cx="48463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eaLnBrk="0" latinLnBrk="0">
              <a:spcAft>
                <a:spcPts val="600"/>
              </a:spcAft>
            </a:pPr>
            <a:r>
              <a:rPr lang="ko-KR" altLang="en-US" sz="1000" b="0">
                <a:solidFill>
                  <a:srgbClr val="6B707C"/>
                </a:solidFill>
                <a:latin typeface="Malgun Gothic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65760"/>
            <a:ext cx="11064240" cy="822960"/>
          </a:xfrm>
        </p:spPr>
        <p:txBody>
          <a:bodyPr lIns="0" rIns="0" anchor="ctr"/>
          <a:lstStyle/>
          <a:p>
            <a:pPr algn="l" eaLnBrk="0" latinLnBrk="0"/>
            <a:r>
              <a:rPr lang="ko-KR" altLang="en-US" sz="3200" b="1">
                <a:solidFill>
                  <a:srgbClr val="1C1F2B"/>
                </a:solidFill>
                <a:latin typeface="Malgun Gothic"/>
              </a:rPr>
              <a:t>배경 ①: 단어는 좌표, 성별은 방향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5120640" cy="4389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 latinLnBrk="0">
              <a:spcAft>
                <a:spcPts val="1400"/>
              </a:spcAft>
            </a:pPr>
            <a:r>
              <a:rPr lang="ko-KR" altLang="en-US" sz="1800" b="1">
                <a:solidFill>
                  <a:srgbClr val="1C1F2B"/>
                </a:solidFill>
                <a:latin typeface="Malgun Gothic"/>
              </a:rPr>
              <a:t>AI는 단어를 768개의 숫자로 된 좌표(벡터)로 바꿔서 읽는다</a:t>
            </a:r>
          </a:p>
          <a:p>
            <a:pPr algn="l" eaLnBrk="0" latinLnBrk="0">
              <a:spcAft>
                <a:spcPts val="1000"/>
              </a:spcAft>
            </a:pPr>
            <a:r>
              <a:rPr lang="ko-KR" altLang="en-US" sz="1600" b="0">
                <a:solidFill>
                  <a:srgbClr val="1C1F2B"/>
                </a:solidFill>
                <a:latin typeface="Malgun Gothic"/>
              </a:rPr>
              <a:t>뜻이 비슷한 단어는 좌표도 가깝다</a:t>
            </a:r>
          </a:p>
          <a:p>
            <a:pPr algn="l" eaLnBrk="0" latinLnBrk="0">
              <a:spcAft>
                <a:spcPts val="1000"/>
              </a:spcAft>
            </a:pPr>
            <a:r>
              <a:rPr lang="ko-KR" altLang="en-US" sz="1600" b="0">
                <a:solidFill>
                  <a:srgbClr val="1C1F2B"/>
                </a:solidFill>
                <a:latin typeface="Malgun Gothic"/>
              </a:rPr>
              <a:t>man → woman, king → queen처럼 같은 관계는 비슷한 방향의 화살표가 된다</a:t>
            </a:r>
          </a:p>
          <a:p>
            <a:pPr algn="l" eaLnBrk="0" latinLnBrk="0">
              <a:spcAft>
                <a:spcPts val="1800"/>
              </a:spcAft>
            </a:pPr>
            <a:r>
              <a:rPr lang="ko-KR" altLang="en-US" sz="1600" b="0">
                <a:solidFill>
                  <a:srgbClr val="1C1F2B"/>
                </a:solidFill>
                <a:latin typeface="Malgun Gothic"/>
              </a:rPr>
              <a:t>그래서 '남성 → 여성' 화살표 7쌍을 평균 내 하나의 '성별 방향'을 만들었다</a:t>
            </a:r>
          </a:p>
          <a:p>
            <a:pPr algn="l" eaLnBrk="0" latinLnBrk="0">
              <a:spcAft>
                <a:spcPts val="600"/>
              </a:spcAft>
            </a:pPr>
            <a:r>
              <a:rPr lang="ko-KR" altLang="en-US" sz="1200" b="0">
                <a:solidFill>
                  <a:srgbClr val="6B707C"/>
                </a:solidFill>
                <a:latin typeface="Malgun Gothic"/>
              </a:rPr>
              <a:t>사용한 7쌍: man/woman, male/female, father/mother, husband/wife, son/daughter, gentleman/lady, boyfriend/girlfriend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0" y="1371600"/>
            <a:ext cx="5486400" cy="466344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latinLnBrk="0"/>
            <a:endParaRPr/>
          </a:p>
        </p:txBody>
      </p:sp>
      <p:sp>
        <p:nvSpPr>
          <p:cNvPr id="5" name="Oval 4"/>
          <p:cNvSpPr/>
          <p:nvPr/>
        </p:nvSpPr>
        <p:spPr>
          <a:xfrm>
            <a:off x="6858000" y="2103120"/>
            <a:ext cx="256032" cy="256032"/>
          </a:xfrm>
          <a:prstGeom prst="ellipse">
            <a:avLst/>
          </a:prstGeom>
          <a:solidFill>
            <a:srgbClr val="2E6F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latinLnBrk="0"/>
            <a:endParaRPr/>
          </a:p>
        </p:txBody>
      </p:sp>
      <p:sp>
        <p:nvSpPr>
          <p:cNvPr id="6" name="Oval 5"/>
          <p:cNvSpPr/>
          <p:nvPr/>
        </p:nvSpPr>
        <p:spPr>
          <a:xfrm>
            <a:off x="7315200" y="4114800"/>
            <a:ext cx="256032" cy="256032"/>
          </a:xfrm>
          <a:prstGeom prst="ellipse">
            <a:avLst/>
          </a:prstGeom>
          <a:solidFill>
            <a:srgbClr val="D149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latinLnBrk="0"/>
            <a:endParaRPr/>
          </a:p>
        </p:txBody>
      </p:sp>
      <p:cxnSp>
        <p:nvCxnSpPr>
          <p:cNvPr id="7" name="Connector 6"/>
          <p:cNvCxnSpPr/>
          <p:nvPr/>
        </p:nvCxnSpPr>
        <p:spPr>
          <a:xfrm>
            <a:off x="7004304" y="2377439"/>
            <a:ext cx="402336" cy="1719073"/>
          </a:xfrm>
          <a:prstGeom prst="line">
            <a:avLst/>
          </a:prstGeom>
          <a:ln w="31750">
            <a:solidFill>
              <a:srgbClr val="9A9EA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766560" y="1691639"/>
            <a:ext cx="1463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 latinLnBrk="0">
              <a:spcAft>
                <a:spcPts val="600"/>
              </a:spcAft>
            </a:pPr>
            <a:r>
              <a:rPr lang="ko-KR" altLang="en-US" sz="1500" b="1">
                <a:solidFill>
                  <a:srgbClr val="2E6FBA"/>
                </a:solidFill>
                <a:latin typeface="Malgun Gothic"/>
              </a:rPr>
              <a:t>man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0" y="4434840"/>
            <a:ext cx="1463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 latinLnBrk="0">
              <a:spcAft>
                <a:spcPts val="600"/>
              </a:spcAft>
            </a:pPr>
            <a:r>
              <a:rPr lang="ko-KR" altLang="en-US" sz="1500" b="1">
                <a:solidFill>
                  <a:srgbClr val="D1495B"/>
                </a:solidFill>
                <a:latin typeface="Malgun Gothic"/>
              </a:rPr>
              <a:t>woman</a:t>
            </a:r>
          </a:p>
        </p:txBody>
      </p:sp>
      <p:sp>
        <p:nvSpPr>
          <p:cNvPr id="10" name="Oval 9"/>
          <p:cNvSpPr/>
          <p:nvPr/>
        </p:nvSpPr>
        <p:spPr>
          <a:xfrm>
            <a:off x="8412480" y="2514600"/>
            <a:ext cx="256032" cy="256032"/>
          </a:xfrm>
          <a:prstGeom prst="ellipse">
            <a:avLst/>
          </a:prstGeom>
          <a:solidFill>
            <a:srgbClr val="2E6F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latinLnBrk="0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8869680" y="4526280"/>
            <a:ext cx="256032" cy="256032"/>
          </a:xfrm>
          <a:prstGeom prst="ellipse">
            <a:avLst/>
          </a:prstGeom>
          <a:solidFill>
            <a:srgbClr val="D149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latinLnBrk="0"/>
            <a:endParaRPr/>
          </a:p>
        </p:txBody>
      </p:sp>
      <p:cxnSp>
        <p:nvCxnSpPr>
          <p:cNvPr id="12" name="Connector 11"/>
          <p:cNvCxnSpPr/>
          <p:nvPr/>
        </p:nvCxnSpPr>
        <p:spPr>
          <a:xfrm>
            <a:off x="8558784" y="2788920"/>
            <a:ext cx="402335" cy="1719072"/>
          </a:xfrm>
          <a:prstGeom prst="line">
            <a:avLst/>
          </a:prstGeom>
          <a:ln w="31750">
            <a:solidFill>
              <a:srgbClr val="9A9EA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8321040" y="2103120"/>
            <a:ext cx="1463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 latinLnBrk="0">
              <a:spcAft>
                <a:spcPts val="600"/>
              </a:spcAft>
            </a:pPr>
            <a:r>
              <a:rPr lang="ko-KR" altLang="en-US" sz="1500" b="1">
                <a:solidFill>
                  <a:srgbClr val="2E6FBA"/>
                </a:solidFill>
                <a:latin typeface="Malgun Gothic"/>
              </a:rPr>
              <a:t>king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0" y="4846320"/>
            <a:ext cx="1463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 latinLnBrk="0">
              <a:spcAft>
                <a:spcPts val="600"/>
              </a:spcAft>
            </a:pPr>
            <a:r>
              <a:rPr lang="ko-KR" altLang="en-US" sz="1500" b="1">
                <a:solidFill>
                  <a:srgbClr val="D1495B"/>
                </a:solidFill>
                <a:latin typeface="Malgun Gothic"/>
              </a:rPr>
              <a:t>queen</a:t>
            </a:r>
          </a:p>
        </p:txBody>
      </p:sp>
      <p:sp>
        <p:nvSpPr>
          <p:cNvPr id="15" name="Oval 14"/>
          <p:cNvSpPr/>
          <p:nvPr/>
        </p:nvSpPr>
        <p:spPr>
          <a:xfrm>
            <a:off x="9966960" y="2011680"/>
            <a:ext cx="256032" cy="256032"/>
          </a:xfrm>
          <a:prstGeom prst="ellipse">
            <a:avLst/>
          </a:prstGeom>
          <a:solidFill>
            <a:srgbClr val="2E6F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latinLnBrk="0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10424160" y="4023360"/>
            <a:ext cx="256032" cy="256032"/>
          </a:xfrm>
          <a:prstGeom prst="ellipse">
            <a:avLst/>
          </a:prstGeom>
          <a:solidFill>
            <a:srgbClr val="D149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latinLnBrk="0"/>
            <a:endParaRPr/>
          </a:p>
        </p:txBody>
      </p:sp>
      <p:cxnSp>
        <p:nvCxnSpPr>
          <p:cNvPr id="17" name="Connector 16"/>
          <p:cNvCxnSpPr/>
          <p:nvPr/>
        </p:nvCxnSpPr>
        <p:spPr>
          <a:xfrm>
            <a:off x="10113264" y="2286000"/>
            <a:ext cx="402336" cy="1719072"/>
          </a:xfrm>
          <a:prstGeom prst="line">
            <a:avLst/>
          </a:prstGeom>
          <a:ln w="31750">
            <a:solidFill>
              <a:srgbClr val="9A9EA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9875520" y="1600200"/>
            <a:ext cx="1463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 latinLnBrk="0">
              <a:spcAft>
                <a:spcPts val="600"/>
              </a:spcAft>
            </a:pPr>
            <a:r>
              <a:rPr lang="ko-KR" altLang="en-US" sz="1500" b="1">
                <a:solidFill>
                  <a:srgbClr val="2E6FBA"/>
                </a:solidFill>
                <a:latin typeface="Malgun Gothic"/>
              </a:rPr>
              <a:t>father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241280" y="4343400"/>
            <a:ext cx="1463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 latinLnBrk="0">
              <a:spcAft>
                <a:spcPts val="600"/>
              </a:spcAft>
            </a:pPr>
            <a:r>
              <a:rPr lang="ko-KR" altLang="en-US" sz="1500" b="1">
                <a:solidFill>
                  <a:srgbClr val="D1495B"/>
                </a:solidFill>
                <a:latin typeface="Malgun Gothic"/>
              </a:rPr>
              <a:t>mother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5486400"/>
            <a:ext cx="49377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 latinLnBrk="0">
              <a:spcAft>
                <a:spcPts val="600"/>
              </a:spcAft>
            </a:pPr>
            <a:r>
              <a:rPr lang="ko-KR" altLang="en-US" sz="1400" b="1">
                <a:solidFill>
                  <a:srgbClr val="1C1F2B"/>
                </a:solidFill>
                <a:latin typeface="Malgun Gothic"/>
              </a:rPr>
              <a:t>화살표의 방향이 거의 같다 → 그 공통 방향 = 성별 방향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400800"/>
            <a:ext cx="9875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 latinLnBrk="0">
              <a:spcAft>
                <a:spcPts val="600"/>
              </a:spcAft>
            </a:pPr>
            <a:r>
              <a:rPr lang="ko-KR" altLang="en-US" sz="1000" b="0">
                <a:solidFill>
                  <a:srgbClr val="6B707C"/>
                </a:solidFill>
                <a:latin typeface="Malgun Gothic"/>
              </a:rPr>
              <a:t>출처: 개념 도식 (직접 그림) · 방향 계산: 02 노트북 셀 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55680" y="6400800"/>
            <a:ext cx="48463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eaLnBrk="0" latinLnBrk="0">
              <a:spcAft>
                <a:spcPts val="600"/>
              </a:spcAft>
            </a:pPr>
            <a:r>
              <a:rPr lang="ko-KR" altLang="en-US" sz="1000" b="0">
                <a:solidFill>
                  <a:srgbClr val="6B707C"/>
                </a:solidFill>
                <a:latin typeface="Malgun Gothic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65760"/>
            <a:ext cx="11064240" cy="822960"/>
          </a:xfrm>
        </p:spPr>
        <p:txBody>
          <a:bodyPr lIns="0" rIns="0" anchor="ctr"/>
          <a:lstStyle/>
          <a:p>
            <a:pPr algn="l" eaLnBrk="0" latinLnBrk="0"/>
            <a:r>
              <a:rPr lang="ko-KR" altLang="en-US" sz="3200" b="1">
                <a:solidFill>
                  <a:srgbClr val="1C1F2B"/>
                </a:solidFill>
                <a:latin typeface="Malgun Gothic"/>
              </a:rPr>
              <a:t>배경 ②: 그 방향은 진짜 '성별'일까?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53035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 latinLnBrk="0">
              <a:spcAft>
                <a:spcPts val="600"/>
              </a:spcAft>
            </a:pPr>
            <a:r>
              <a:rPr lang="ko-KR" altLang="en-US" sz="1600" b="0">
                <a:solidFill>
                  <a:srgbClr val="6B707C"/>
                </a:solidFill>
                <a:latin typeface="Malgun Gothic"/>
              </a:rPr>
              <a:t>PCA: 여러 화살표를 대표하는 '하나의 방향' 찾기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965960"/>
            <a:ext cx="5303520" cy="1874519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latinLnBrk="0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68680" y="2148840"/>
            <a:ext cx="23774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 latinLnBrk="0">
              <a:spcAft>
                <a:spcPts val="600"/>
              </a:spcAft>
            </a:pPr>
            <a:r>
              <a:rPr lang="ko-KR" altLang="en-US" sz="5400" b="1">
                <a:solidFill>
                  <a:srgbClr val="E8A33D"/>
                </a:solidFill>
                <a:latin typeface="Malgun Gothic"/>
              </a:rPr>
              <a:t>56.8%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3108960"/>
            <a:ext cx="47548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 latinLnBrk="0">
              <a:spcAft>
                <a:spcPts val="600"/>
              </a:spcAft>
            </a:pPr>
            <a:r>
              <a:rPr lang="ko-KR" altLang="en-US" sz="1300" b="0">
                <a:solidFill>
                  <a:srgbClr val="1C1F2B"/>
                </a:solidFill>
                <a:latin typeface="Malgun Gothic"/>
              </a:rPr>
              <a:t>7쌍 화살표 차이 중 대표 방향 하나가 설명하는 몫
(제각각이면 약 14%, 1/7 이론값)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4023360"/>
            <a:ext cx="5303520" cy="201168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latinLnBrk="0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4206240"/>
            <a:ext cx="47548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 latinLnBrk="0">
              <a:spcAft>
                <a:spcPts val="600"/>
              </a:spcAft>
            </a:pPr>
            <a:r>
              <a:rPr lang="ko-KR" altLang="en-US" sz="1700" b="1">
                <a:solidFill>
                  <a:srgbClr val="1C1F2B"/>
                </a:solidFill>
                <a:latin typeface="Malgun Gothic"/>
              </a:rPr>
              <a:t>처음 보는 단어로 시험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4663440"/>
            <a:ext cx="475488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 latinLnBrk="0">
              <a:spcAft>
                <a:spcPts val="600"/>
              </a:spcAft>
            </a:pPr>
            <a:r>
              <a:rPr lang="ko-KR" altLang="en-US" sz="1400" b="0">
                <a:solidFill>
                  <a:srgbClr val="1C1F2B"/>
                </a:solidFill>
                <a:latin typeface="Malgun Gothic"/>
              </a:rPr>
              <a:t>방향 만들 때 쓰지 않은 3쌍도 모두 남성 쪽으로 갈림</a:t>
            </a:r>
          </a:p>
          <a:p>
            <a:pPr algn="l" eaLnBrk="0" latinLnBrk="0">
              <a:spcAft>
                <a:spcPts val="600"/>
              </a:spcAft>
            </a:pPr>
            <a:r>
              <a:rPr lang="ko-KR" altLang="en-US" sz="1300" b="0">
                <a:solidFill>
                  <a:srgbClr val="6B707C"/>
                </a:solidFill>
                <a:latin typeface="Malgun Gothic"/>
              </a:rPr>
              <a:t>brother/sister · king/queen · businessman/businesswoman</a:t>
            </a:r>
          </a:p>
          <a:p>
            <a:pPr algn="l" eaLnBrk="0" latinLnBrk="0">
              <a:spcAft>
                <a:spcPts val="600"/>
              </a:spcAft>
            </a:pPr>
            <a:r>
              <a:rPr lang="ko-KR" altLang="en-US" sz="1400" b="0">
                <a:solidFill>
                  <a:srgbClr val="1C1F2B"/>
                </a:solidFill>
                <a:latin typeface="Malgun Gothic"/>
              </a:rPr>
              <a:t>마지막 층 차이 8.48 · 9.30 · 10.29 (모두 양수)</a:t>
            </a:r>
          </a:p>
        </p:txBody>
      </p:sp>
      <p:pic>
        <p:nvPicPr>
          <p:cNvPr id="10" name="Picture 9" descr="층별 PC1 설명 비율. 1층 약 0.3에서 12층 약 0.55로 증가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463040"/>
            <a:ext cx="5303520" cy="4096899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309360" y="5651379"/>
            <a:ext cx="53035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 latinLnBrk="0">
              <a:spcAft>
                <a:spcPts val="600"/>
              </a:spcAft>
            </a:pPr>
            <a:r>
              <a:rPr lang="ko-KR" altLang="en-US" sz="1300" b="0">
                <a:solidFill>
                  <a:srgbClr val="6B707C"/>
                </a:solidFill>
                <a:latin typeface="Malgun Gothic"/>
              </a:rPr>
              <a:t>층별 PC1 비율: 뒤 층으로 갈수록 한 방향으로 모인다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00800"/>
            <a:ext cx="9875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 latinLnBrk="0">
              <a:spcAft>
                <a:spcPts val="600"/>
              </a:spcAft>
            </a:pPr>
            <a:r>
              <a:rPr lang="ko-KR" altLang="en-US" sz="1000" b="0">
                <a:solidFill>
                  <a:srgbClr val="6B707C"/>
                </a:solidFill>
                <a:latin typeface="Malgun Gothic"/>
              </a:rPr>
              <a:t>출처: 02 노트북 셀 3 (검증 3쌍), 셀 5 (그림), 셀 8 (0.568)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0" y="6400800"/>
            <a:ext cx="48463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eaLnBrk="0" latinLnBrk="0">
              <a:spcAft>
                <a:spcPts val="600"/>
              </a:spcAft>
            </a:pPr>
            <a:r>
              <a:rPr lang="ko-KR" altLang="en-US" sz="1000" b="0">
                <a:solidFill>
                  <a:srgbClr val="6B707C"/>
                </a:solidFill>
                <a:latin typeface="Malgun Gothic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65760"/>
            <a:ext cx="11064240" cy="822960"/>
          </a:xfrm>
        </p:spPr>
        <p:txBody>
          <a:bodyPr lIns="0" rIns="0" anchor="ctr"/>
          <a:lstStyle/>
          <a:p>
            <a:pPr algn="l" eaLnBrk="0" latinLnBrk="0"/>
            <a:r>
              <a:rPr lang="ko-KR" altLang="en-US" sz="3200" b="1">
                <a:solidFill>
                  <a:srgbClr val="1C1F2B"/>
                </a:solidFill>
                <a:latin typeface="Malgun Gothic"/>
              </a:rPr>
              <a:t>직업을 성별 축 위에 놓으면</a:t>
            </a:r>
          </a:p>
        </p:txBody>
      </p:sp>
      <p:pic>
        <p:nvPicPr>
          <p:cNvPr id="3" name="Picture 2" descr="12층 직업 2D 지도. 왼쪽 성별 방향, 오른쪽 무작위 방향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9527" y="1234440"/>
            <a:ext cx="9692640" cy="427452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646123"/>
            <a:ext cx="539496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 latinLnBrk="0">
              <a:spcAft>
                <a:spcPts val="400"/>
              </a:spcAft>
            </a:pPr>
            <a:r>
              <a:rPr lang="ko-KR" altLang="en-US" sz="1500" b="1">
                <a:solidFill>
                  <a:srgbClr val="1C1F2B"/>
                </a:solidFill>
                <a:latin typeface="Malgun Gothic"/>
              </a:rPr>
              <a:t>세로축 = 성별 방향. 위 = 남성 쪽</a:t>
            </a:r>
          </a:p>
          <a:p>
            <a:pPr algn="l" eaLnBrk="0" latinLnBrk="0">
              <a:spcAft>
                <a:spcPts val="600"/>
              </a:spcAft>
            </a:pPr>
            <a:r>
              <a:rPr lang="ko-KR" altLang="en-US" sz="1400" b="0">
                <a:solidFill>
                  <a:srgbClr val="1C1F2B"/>
                </a:solidFill>
                <a:latin typeface="Malgun Gothic"/>
              </a:rPr>
              <a:t>CEO·pilot은 위, nurse·secretary는 아래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5646123"/>
            <a:ext cx="539496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 latinLnBrk="0">
              <a:spcAft>
                <a:spcPts val="400"/>
              </a:spcAft>
            </a:pPr>
            <a:r>
              <a:rPr lang="ko-KR" altLang="en-US" sz="1500" b="1">
                <a:solidFill>
                  <a:srgbClr val="1C1F2B"/>
                </a:solidFill>
                <a:latin typeface="Malgun Gothic"/>
              </a:rPr>
              <a:t>퍼진 정도: 성별 방향 1.45 vs 무작위 방향 0.43</a:t>
            </a:r>
          </a:p>
          <a:p>
            <a:pPr algn="l" eaLnBrk="0" latinLnBrk="0">
              <a:spcAft>
                <a:spcPts val="600"/>
              </a:spcAft>
            </a:pPr>
            <a:r>
              <a:rPr lang="ko-KR" altLang="en-US" sz="1400" b="0">
                <a:solidFill>
                  <a:srgbClr val="1C1F2B"/>
                </a:solidFill>
                <a:latin typeface="Malgun Gothic"/>
              </a:rPr>
              <a:t>무작위 방향 100개 중 최대도 0.67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9875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 latinLnBrk="0">
              <a:spcAft>
                <a:spcPts val="600"/>
              </a:spcAft>
            </a:pPr>
            <a:r>
              <a:rPr lang="ko-KR" altLang="en-US" sz="1000" b="0">
                <a:solidFill>
                  <a:srgbClr val="6B707C"/>
                </a:solidFill>
                <a:latin typeface="Malgun Gothic"/>
              </a:rPr>
              <a:t>출처: 03 노트북 셀 5 (그림, 1.45 / 0.43), 셀 9 (무작위 100개)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00800"/>
            <a:ext cx="48463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eaLnBrk="0" latinLnBrk="0">
              <a:spcAft>
                <a:spcPts val="600"/>
              </a:spcAft>
            </a:pPr>
            <a:r>
              <a:rPr lang="ko-KR" altLang="en-US" sz="1000" b="0">
                <a:solidFill>
                  <a:srgbClr val="6B707C"/>
                </a:solidFill>
                <a:latin typeface="Malgun Gothic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65760"/>
            <a:ext cx="11064240" cy="822960"/>
          </a:xfrm>
        </p:spPr>
        <p:txBody>
          <a:bodyPr lIns="0" rIns="0" anchor="ctr"/>
          <a:lstStyle/>
          <a:p>
            <a:pPr algn="l" eaLnBrk="0" latinLnBrk="0"/>
            <a:r>
              <a:rPr lang="ko-KR" altLang="en-US" sz="3200" b="1">
                <a:solidFill>
                  <a:srgbClr val="1C1F2B"/>
                </a:solidFill>
                <a:latin typeface="Malgun Gothic"/>
              </a:rPr>
              <a:t>편향은 몇 번째 층에서 생길까</a:t>
            </a:r>
          </a:p>
        </p:txBody>
      </p:sp>
      <p:sp>
        <p:nvSpPr>
          <p:cNvPr id="3" name="Rounded Rectangle 2">
            <a:hlinkClick r:id="rId3"/>
          </p:cNvPr>
          <p:cNvSpPr/>
          <p:nvPr/>
        </p:nvSpPr>
        <p:spPr>
          <a:xfrm>
            <a:off x="548640" y="1371600"/>
            <a:ext cx="6949440" cy="475488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 w="19050">
            <a:solidFill>
              <a:srgbClr val="9A9EA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latinLnBrk="0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2651760"/>
            <a:ext cx="6217920" cy="2194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 eaLnBrk="0" latinLnBrk="0">
              <a:spcAft>
                <a:spcPts val="1000"/>
              </a:spcAft>
            </a:pPr>
            <a:r>
              <a:rPr lang="ko-KR" altLang="en-US" sz="2800" b="1">
                <a:solidFill>
                  <a:srgbClr val="1C1F2B"/>
                </a:solidFill>
                <a:latin typeface="Malgun Gothic"/>
              </a:rPr>
              <a:t>▶ 시연 자리</a:t>
            </a:r>
          </a:p>
          <a:p>
            <a:pPr algn="ctr" eaLnBrk="0" latinLnBrk="0">
              <a:spcAft>
                <a:spcPts val="1000"/>
              </a:spcAft>
            </a:pPr>
            <a:r>
              <a:rPr lang="ko-KR" altLang="en-US" sz="1800" b="0">
                <a:solidFill>
                  <a:srgbClr val="2E6FBA"/>
                </a:solidFill>
                <a:latin typeface="Malgun Gothic"/>
                <a:hlinkClick r:id="rId3"/>
              </a:rPr>
              <a:t>figures/layer_slider.html</a:t>
            </a:r>
          </a:p>
          <a:p>
            <a:pPr algn="ctr" eaLnBrk="0" latinLnBrk="0">
              <a:spcAft>
                <a:spcPts val="600"/>
              </a:spcAft>
            </a:pPr>
            <a:r>
              <a:rPr lang="ko-KR" altLang="en-US" sz="1300" b="0">
                <a:solidFill>
                  <a:srgbClr val="6B707C"/>
                </a:solidFill>
                <a:latin typeface="Malgun Gothic"/>
              </a:rPr>
              <a:t>PPT에는 넣을 수 없어 브라우저로 연다 (이 칸 클릭)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863840" y="1371600"/>
            <a:ext cx="3779215" cy="301752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latinLnBrk="0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138160" y="1600200"/>
            <a:ext cx="3230575" cy="274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 latinLnBrk="0">
              <a:spcAft>
                <a:spcPts val="1000"/>
              </a:spcAft>
            </a:pPr>
            <a:r>
              <a:rPr lang="ko-KR" altLang="en-US" sz="1700" b="1">
                <a:solidFill>
                  <a:srgbClr val="1C1F2B"/>
                </a:solidFill>
                <a:latin typeface="Malgun Gothic"/>
              </a:rPr>
              <a:t>슬라이더에서 볼 것</a:t>
            </a:r>
          </a:p>
          <a:p>
            <a:pPr algn="l" eaLnBrk="0" latinLnBrk="0">
              <a:spcAft>
                <a:spcPts val="800"/>
              </a:spcAft>
            </a:pPr>
            <a:r>
              <a:rPr lang="ko-KR" altLang="en-US" sz="1400" b="0">
                <a:solidFill>
                  <a:srgbClr val="1C1F2B"/>
                </a:solidFill>
                <a:latin typeface="Malgun Gothic"/>
              </a:rPr>
              <a:t>0층: 직업 사이에 차이가 없다</a:t>
            </a:r>
          </a:p>
          <a:p>
            <a:pPr algn="l" eaLnBrk="0" latinLnBrk="0">
              <a:spcAft>
                <a:spcPts val="800"/>
              </a:spcAft>
            </a:pPr>
            <a:r>
              <a:rPr lang="ko-KR" altLang="en-US" sz="1400" b="0">
                <a:solidFill>
                  <a:srgbClr val="1C1F2B"/>
                </a:solidFill>
                <a:latin typeface="Malgun Gothic"/>
              </a:rPr>
              <a:t>층이 올라갈수록 직업이 위아래로 갈라진다</a:t>
            </a:r>
          </a:p>
          <a:p>
            <a:pPr algn="l" eaLnBrk="0" latinLnBrk="0">
              <a:spcAft>
                <a:spcPts val="600"/>
              </a:spcAft>
            </a:pPr>
            <a:r>
              <a:rPr lang="ko-KR" altLang="en-US" sz="1400" b="0">
                <a:solidFill>
                  <a:srgbClr val="1C1F2B"/>
                </a:solidFill>
                <a:latin typeface="Malgun Gothic"/>
              </a:rPr>
              <a:t>12층: CEO·pilot은 위, nurse·secretary는 아래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63840" y="4572000"/>
            <a:ext cx="3779215" cy="155448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latinLnBrk="0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138160" y="4754880"/>
            <a:ext cx="3230575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 latinLnBrk="0">
              <a:spcAft>
                <a:spcPts val="600"/>
              </a:spcAft>
            </a:pPr>
            <a:r>
              <a:rPr lang="ko-KR" altLang="en-US" sz="1400" b="1">
                <a:solidFill>
                  <a:srgbClr val="1C1F2B"/>
                </a:solidFill>
                <a:latin typeface="Malgun Gothic"/>
              </a:rPr>
              <a:t>1층부터 보이고, 뒤 층으로 갈수록 강해진다</a:t>
            </a:r>
          </a:p>
          <a:p>
            <a:pPr algn="l" eaLnBrk="0" latinLnBrk="0">
              <a:spcAft>
                <a:spcPts val="600"/>
              </a:spcAft>
            </a:pPr>
            <a:r>
              <a:rPr lang="ko-KR" altLang="en-US" sz="1200" b="0">
                <a:solidFill>
                  <a:srgbClr val="6B707C"/>
                </a:solidFill>
                <a:latin typeface="Malgun Gothic"/>
              </a:rPr>
              <a:t>성별 맞히기 정확도 1층 약 0.8 → 6층 이후 0.95 이상 (백업: layer_curves.png)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00800"/>
            <a:ext cx="9875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 latinLnBrk="0">
              <a:spcAft>
                <a:spcPts val="600"/>
              </a:spcAft>
            </a:pPr>
            <a:r>
              <a:rPr lang="ko-KR" altLang="en-US" sz="1000" b="0">
                <a:solidFill>
                  <a:srgbClr val="6B707C"/>
                </a:solidFill>
                <a:latin typeface="Malgun Gothic"/>
              </a:rPr>
              <a:t>출처: 03 노트북 셀 7 (layer_slider.html), 셀 8 (layer_curves.png, 근사값)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00800"/>
            <a:ext cx="48463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eaLnBrk="0" latinLnBrk="0">
              <a:spcAft>
                <a:spcPts val="600"/>
              </a:spcAft>
            </a:pPr>
            <a:r>
              <a:rPr lang="ko-KR" altLang="en-US" sz="1000" b="0">
                <a:solidFill>
                  <a:srgbClr val="6B707C"/>
                </a:solidFill>
                <a:latin typeface="Malgun Gothic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65760"/>
            <a:ext cx="11064240" cy="822960"/>
          </a:xfrm>
        </p:spPr>
        <p:txBody>
          <a:bodyPr lIns="0" rIns="0" anchor="ctr"/>
          <a:lstStyle/>
          <a:p>
            <a:pPr algn="l" eaLnBrk="0" latinLnBrk="0"/>
            <a:r>
              <a:rPr lang="ko-KR" altLang="en-US" sz="3200" b="1">
                <a:solidFill>
                  <a:srgbClr val="1C1F2B"/>
                </a:solidFill>
                <a:latin typeface="Malgun Gothic"/>
              </a:rPr>
              <a:t>같은 시드, 축만 움직였을 때</a:t>
            </a:r>
          </a:p>
        </p:txBody>
      </p:sp>
      <p:pic>
        <p:nvPicPr>
          <p:cNvPr id="3" name="Picture 2" descr="CEO 같은 시드 전후 격자. 열: original, lam −1 ~ +1, random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234440"/>
            <a:ext cx="8619166" cy="49377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487846" y="1463040"/>
            <a:ext cx="2155208" cy="457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 latinLnBrk="0">
              <a:spcAft>
                <a:spcPts val="400"/>
              </a:spcAft>
            </a:pPr>
            <a:r>
              <a:rPr lang="ko-KR" altLang="en-US" sz="1600" b="1">
                <a:solidFill>
                  <a:srgbClr val="1C1F2B"/>
                </a:solidFill>
                <a:latin typeface="Malgun Gothic"/>
              </a:rPr>
              <a:t>행 = 같은 시드</a:t>
            </a:r>
          </a:p>
          <a:p>
            <a:pPr algn="l" eaLnBrk="0" latinLnBrk="0">
              <a:spcAft>
                <a:spcPts val="1600"/>
              </a:spcAft>
            </a:pPr>
            <a:r>
              <a:rPr lang="ko-KR" altLang="en-US" sz="1600" b="1">
                <a:solidFill>
                  <a:srgbClr val="1C1F2B"/>
                </a:solidFill>
                <a:latin typeface="Malgun Gothic"/>
              </a:rPr>
              <a:t>열 = 조건</a:t>
            </a:r>
          </a:p>
          <a:p>
            <a:pPr algn="l" eaLnBrk="0" latinLnBrk="0">
              <a:spcAft>
                <a:spcPts val="800"/>
              </a:spcAft>
            </a:pPr>
            <a:r>
              <a:rPr lang="ko-KR" altLang="en-US" sz="1400" b="0">
                <a:solidFill>
                  <a:srgbClr val="1C1F2B"/>
                </a:solidFill>
                <a:latin typeface="Malgun Gothic"/>
              </a:rPr>
              <a:t>lam −1, −0.5: 여성으로 바뀜</a:t>
            </a:r>
          </a:p>
          <a:p>
            <a:pPr algn="l" eaLnBrk="0" latinLnBrk="0">
              <a:spcAft>
                <a:spcPts val="800"/>
              </a:spcAft>
            </a:pPr>
            <a:r>
              <a:rPr lang="ko-KR" altLang="en-US" sz="1400" b="0">
                <a:solidFill>
                  <a:srgbClr val="1C1F2B"/>
                </a:solidFill>
                <a:latin typeface="Malgun Gothic"/>
              </a:rPr>
              <a:t>lam 0: 일부만 바뀜</a:t>
            </a:r>
          </a:p>
          <a:p>
            <a:pPr algn="l" eaLnBrk="0" latinLnBrk="0">
              <a:spcAft>
                <a:spcPts val="1600"/>
              </a:spcAft>
            </a:pPr>
            <a:r>
              <a:rPr lang="ko-KR" altLang="en-US" sz="1400" b="0">
                <a:solidFill>
                  <a:srgbClr val="1C1F2B"/>
                </a:solidFill>
                <a:latin typeface="Malgun Gothic"/>
              </a:rPr>
              <a:t>random: 원본과 거의 같음</a:t>
            </a:r>
          </a:p>
          <a:p>
            <a:pPr algn="l" eaLnBrk="0" latinLnBrk="0">
              <a:spcAft>
                <a:spcPts val="600"/>
              </a:spcAft>
            </a:pPr>
            <a:r>
              <a:rPr lang="ko-KR" altLang="en-US" sz="1400" b="0">
                <a:solidFill>
                  <a:srgbClr val="6B707C"/>
                </a:solidFill>
                <a:latin typeface="Malgun Gothic"/>
              </a:rPr>
              <a:t>구도와 배경은 대체로 유지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875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 latinLnBrk="0">
              <a:spcAft>
                <a:spcPts val="600"/>
              </a:spcAft>
            </a:pPr>
            <a:r>
              <a:rPr lang="ko-KR" altLang="en-US" sz="1000" b="0">
                <a:solidFill>
                  <a:srgbClr val="6B707C"/>
                </a:solidFill>
                <a:latin typeface="Malgun Gothic"/>
              </a:rPr>
              <a:t>출처: 05 노트북 셀 18 (figures/grid_CEO.png)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00800"/>
            <a:ext cx="48463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eaLnBrk="0" latinLnBrk="0">
              <a:spcAft>
                <a:spcPts val="600"/>
              </a:spcAft>
            </a:pPr>
            <a:r>
              <a:rPr lang="ko-KR" altLang="en-US" sz="1000" b="0">
                <a:solidFill>
                  <a:srgbClr val="6B707C"/>
                </a:solidFill>
                <a:latin typeface="Malgun Gothic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65760"/>
            <a:ext cx="11064240" cy="822960"/>
          </a:xfrm>
        </p:spPr>
        <p:txBody>
          <a:bodyPr lIns="0" rIns="0" anchor="ctr"/>
          <a:lstStyle/>
          <a:p>
            <a:pPr algn="l" eaLnBrk="0" latinLnBrk="0"/>
            <a:r>
              <a:rPr lang="ko-KR" altLang="en-US" sz="3200" b="1">
                <a:solidFill>
                  <a:srgbClr val="1C1F2B"/>
                </a:solidFill>
                <a:latin typeface="Malgun Gothic"/>
              </a:rPr>
              <a:t>실험 환경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371600"/>
          <a:ext cx="7680960" cy="457200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26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53142">
                <a:tc>
                  <a:txBody>
                    <a:bodyPr/>
                    <a:lstStyle/>
                    <a:p>
                      <a:pPr eaLnBrk="0" latinLnBrk="0"/>
                      <a:r>
                        <a:rPr lang="ko-KR" altLang="en-US" sz="1400" b="1">
                          <a:solidFill>
                            <a:srgbClr val="6B707C"/>
                          </a:solidFill>
                          <a:latin typeface="Malgun Gothic"/>
                        </a:rPr>
                        <a:t>생성 모델</a:t>
                      </a:r>
                    </a:p>
                  </a:txBody>
                  <a:tcPr marL="137160" marR="137160"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eaLnBrk="0" latinLnBrk="0"/>
                      <a:r>
                        <a:rPr lang="ko-KR" altLang="en-US" sz="1400" b="0">
                          <a:solidFill>
                            <a:srgbClr val="1C1F2B"/>
                          </a:solidFill>
                          <a:latin typeface="Malgun Gothic"/>
                        </a:rPr>
                        <a:t>Stable Diffusion v1.5 (fp16), 25 steps</a:t>
                      </a:r>
                    </a:p>
                  </a:txBody>
                  <a:tcPr marL="137160" marR="137160" anchor="ctr"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3142">
                <a:tc>
                  <a:txBody>
                    <a:bodyPr/>
                    <a:lstStyle/>
                    <a:p>
                      <a:pPr eaLnBrk="0" latinLnBrk="0"/>
                      <a:r>
                        <a:rPr lang="ko-KR" altLang="en-US" sz="1400" b="1">
                          <a:solidFill>
                            <a:srgbClr val="6B707C"/>
                          </a:solidFill>
                          <a:latin typeface="Malgun Gothic"/>
                        </a:rPr>
                        <a:t>프롬프트</a:t>
                      </a:r>
                    </a:p>
                  </a:txBody>
                  <a:tcPr marL="137160" marR="1371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latinLnBrk="0"/>
                      <a:r>
                        <a:rPr lang="ko-KR" altLang="en-US" sz="1400" b="0">
                          <a:solidFill>
                            <a:srgbClr val="1C1F2B"/>
                          </a:solidFill>
                          <a:latin typeface="Malgun Gothic"/>
                        </a:rPr>
                        <a:t>"a photo of a {직업}"</a:t>
                      </a:r>
                    </a:p>
                  </a:txBody>
                  <a:tcPr marL="137160" marR="13716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3142">
                <a:tc>
                  <a:txBody>
                    <a:bodyPr/>
                    <a:lstStyle/>
                    <a:p>
                      <a:pPr eaLnBrk="0" latinLnBrk="0"/>
                      <a:r>
                        <a:rPr lang="ko-KR" altLang="en-US" sz="1400" b="1">
                          <a:solidFill>
                            <a:srgbClr val="6B707C"/>
                          </a:solidFill>
                          <a:latin typeface="Malgun Gothic"/>
                        </a:rPr>
                        <a:t>직업 6개</a:t>
                      </a:r>
                    </a:p>
                  </a:txBody>
                  <a:tcPr marL="137160" marR="137160"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eaLnBrk="0" latinLnBrk="0"/>
                      <a:r>
                        <a:rPr lang="ko-KR" altLang="en-US" sz="1400" b="0">
                          <a:solidFill>
                            <a:srgbClr val="1C1F2B"/>
                          </a:solidFill>
                          <a:latin typeface="Malgun Gothic"/>
                        </a:rPr>
                        <a:t>pilot, CEO (남성 쪽) · nurse, nanny (여성 쪽) · cashier, teacher (가운데)</a:t>
                      </a:r>
                    </a:p>
                  </a:txBody>
                  <a:tcPr marL="137160" marR="137160" anchor="ctr"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3142">
                <a:tc>
                  <a:txBody>
                    <a:bodyPr/>
                    <a:lstStyle/>
                    <a:p>
                      <a:pPr eaLnBrk="0" latinLnBrk="0"/>
                      <a:r>
                        <a:rPr lang="ko-KR" altLang="en-US" sz="1400" b="1">
                          <a:solidFill>
                            <a:srgbClr val="6B707C"/>
                          </a:solidFill>
                          <a:latin typeface="Malgun Gothic"/>
                        </a:rPr>
                        <a:t>조건 7개</a:t>
                      </a:r>
                    </a:p>
                  </a:txBody>
                  <a:tcPr marL="137160" marR="1371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latinLnBrk="0"/>
                      <a:r>
                        <a:rPr lang="ko-KR" altLang="en-US" sz="1400" b="0">
                          <a:solidFill>
                            <a:srgbClr val="1C1F2B"/>
                          </a:solidFill>
                          <a:latin typeface="Malgun Gothic"/>
                        </a:rPr>
                        <a:t>원본 · 무작위 방향 · lam −1, −0.5, 0, +0.5, +1</a:t>
                      </a:r>
                    </a:p>
                  </a:txBody>
                  <a:tcPr marL="137160" marR="13716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3142">
                <a:tc>
                  <a:txBody>
                    <a:bodyPr/>
                    <a:lstStyle/>
                    <a:p>
                      <a:pPr eaLnBrk="0" latinLnBrk="0"/>
                      <a:r>
                        <a:rPr lang="ko-KR" altLang="en-US" sz="1400" b="1">
                          <a:solidFill>
                            <a:srgbClr val="6B707C"/>
                          </a:solidFill>
                          <a:latin typeface="Malgun Gothic"/>
                        </a:rPr>
                        <a:t>반복</a:t>
                      </a:r>
                    </a:p>
                  </a:txBody>
                  <a:tcPr marL="137160" marR="137160"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eaLnBrk="0" latinLnBrk="0"/>
                      <a:r>
                        <a:rPr lang="ko-KR" altLang="en-US" sz="1400" b="0">
                          <a:solidFill>
                            <a:srgbClr val="1C1F2B"/>
                          </a:solidFill>
                          <a:latin typeface="Malgun Gothic"/>
                        </a:rPr>
                        <a:t>시드 0~49 → 조건마다 50장, 총 2,100장</a:t>
                      </a:r>
                    </a:p>
                  </a:txBody>
                  <a:tcPr marL="137160" marR="137160" anchor="ctr"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53142">
                <a:tc>
                  <a:txBody>
                    <a:bodyPr/>
                    <a:lstStyle/>
                    <a:p>
                      <a:pPr eaLnBrk="0" latinLnBrk="0"/>
                      <a:r>
                        <a:rPr lang="ko-KR" altLang="en-US" sz="1400" b="1">
                          <a:solidFill>
                            <a:srgbClr val="6B707C"/>
                          </a:solidFill>
                          <a:latin typeface="Malgun Gothic"/>
                        </a:rPr>
                        <a:t>성별 판정</a:t>
                      </a:r>
                    </a:p>
                  </a:txBody>
                  <a:tcPr marL="137160" marR="1371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latinLnBrk="0"/>
                      <a:r>
                        <a:rPr lang="ko-KR" altLang="en-US" sz="1400" b="0">
                          <a:solidFill>
                            <a:srgbClr val="1C1F2B"/>
                          </a:solidFill>
                          <a:latin typeface="Malgun Gothic"/>
                        </a:rPr>
                        <a:t>CLIP ViT-L/14: "a photo of a man / a woman / with no person" 중 가장 어울리는 쪽</a:t>
                      </a:r>
                    </a:p>
                  </a:txBody>
                  <a:tcPr marL="137160" marR="13716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53148">
                <a:tc>
                  <a:txBody>
                    <a:bodyPr/>
                    <a:lstStyle/>
                    <a:p>
                      <a:pPr eaLnBrk="0" latinLnBrk="0"/>
                      <a:r>
                        <a:rPr lang="ko-KR" altLang="en-US" sz="1400" b="1">
                          <a:solidFill>
                            <a:srgbClr val="6B707C"/>
                          </a:solidFill>
                          <a:latin typeface="Malgun Gothic"/>
                        </a:rPr>
                        <a:t>제외</a:t>
                      </a:r>
                    </a:p>
                  </a:txBody>
                  <a:tcPr marL="137160" marR="137160"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eaLnBrk="0" latinLnBrk="0"/>
                      <a:r>
                        <a:rPr lang="ko-KR" altLang="en-US" sz="1400" b="0">
                          <a:solidFill>
                            <a:srgbClr val="1C1F2B"/>
                          </a:solidFill>
                          <a:latin typeface="Malgun Gothic"/>
                        </a:rPr>
                        <a:t>검은 이미지 1장 (안전 필터), '사람 없음' 판정 281장 (13.4%)</a:t>
                      </a:r>
                    </a:p>
                  </a:txBody>
                  <a:tcPr marL="137160" marR="137160" anchor="ctr"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" name="Rounded Rectangle 3"/>
          <p:cNvSpPr/>
          <p:nvPr/>
        </p:nvSpPr>
        <p:spPr>
          <a:xfrm>
            <a:off x="8595360" y="1371600"/>
            <a:ext cx="3047695" cy="214884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latinLnBrk="0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869680" y="1554480"/>
            <a:ext cx="2499055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 latinLnBrk="0">
              <a:spcAft>
                <a:spcPts val="400"/>
              </a:spcAft>
            </a:pPr>
            <a:r>
              <a:rPr lang="ko-KR" altLang="en-US" sz="4000" b="1">
                <a:solidFill>
                  <a:srgbClr val="1C1F2B"/>
                </a:solidFill>
                <a:latin typeface="Malgun Gothic"/>
              </a:rPr>
              <a:t>88%</a:t>
            </a:r>
          </a:p>
          <a:p>
            <a:pPr algn="l" eaLnBrk="0" latinLnBrk="0">
              <a:spcAft>
                <a:spcPts val="600"/>
              </a:spcAft>
            </a:pPr>
            <a:r>
              <a:rPr lang="ko-KR" altLang="en-US" sz="1300" b="0">
                <a:solidFill>
                  <a:srgbClr val="1C1F2B"/>
                </a:solidFill>
                <a:latin typeface="Malgun Gothic"/>
              </a:rPr>
              <a:t>사람 이미지 중 CLIP 확신도 0.9 이상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595360" y="3794760"/>
            <a:ext cx="3047695" cy="214884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latinLnBrk="0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869680" y="3977639"/>
            <a:ext cx="2499055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 latinLnBrk="0">
              <a:spcAft>
                <a:spcPts val="400"/>
              </a:spcAft>
            </a:pPr>
            <a:r>
              <a:rPr lang="ko-KR" altLang="en-US" sz="4000" b="1">
                <a:solidFill>
                  <a:srgbClr val="1C1F2B"/>
                </a:solidFill>
                <a:latin typeface="Malgun Gothic"/>
              </a:rPr>
              <a:t>2.3%p</a:t>
            </a:r>
          </a:p>
          <a:p>
            <a:pPr algn="l" eaLnBrk="0" latinLnBrk="0">
              <a:spcAft>
                <a:spcPts val="600"/>
              </a:spcAft>
            </a:pPr>
            <a:r>
              <a:rPr lang="ko-KR" altLang="en-US" sz="1300" b="0">
                <a:solidFill>
                  <a:srgbClr val="1C1F2B"/>
                </a:solidFill>
                <a:latin typeface="Malgun Gothic"/>
              </a:rPr>
              <a:t>확신 높은 판정만 써도 남성 비율 차이 (평균)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00800"/>
            <a:ext cx="9875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 latinLnBrk="0">
              <a:spcAft>
                <a:spcPts val="600"/>
              </a:spcAft>
            </a:pPr>
            <a:r>
              <a:rPr lang="ko-KR" altLang="en-US" sz="1000" b="0">
                <a:solidFill>
                  <a:srgbClr val="6B707C"/>
                </a:solidFill>
                <a:latin typeface="Malgun Gothic"/>
              </a:rPr>
              <a:t>출처: src/prompts.py (설정) · 04 노트북 셀 9 (직업 선택) · 05 노트북 셀 4 (검은 이미지), 셀 6 (판정), 셀 8 (신뢰도)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00800"/>
            <a:ext cx="48463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eaLnBrk="0" latinLnBrk="0">
              <a:spcAft>
                <a:spcPts val="600"/>
              </a:spcAft>
            </a:pPr>
            <a:r>
              <a:rPr lang="ko-KR" altLang="en-US" sz="1000" b="0">
                <a:solidFill>
                  <a:srgbClr val="6B707C"/>
                </a:solidFill>
                <a:latin typeface="Malgun Gothic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65760"/>
            <a:ext cx="11064240" cy="822960"/>
          </a:xfrm>
        </p:spPr>
        <p:txBody>
          <a:bodyPr lIns="0" rIns="0" anchor="ctr"/>
          <a:lstStyle/>
          <a:p>
            <a:pPr algn="l" eaLnBrk="0" latinLnBrk="0"/>
            <a:r>
              <a:rPr lang="ko-KR" altLang="en-US" sz="3200" b="1">
                <a:solidFill>
                  <a:srgbClr val="1C1F2B"/>
                </a:solidFill>
                <a:latin typeface="Malgun Gothic"/>
              </a:rPr>
              <a:t>CLIP 판정 결과: 축 위치별 남성 비율</a:t>
            </a:r>
          </a:p>
        </p:txBody>
      </p:sp>
      <p:pic>
        <p:nvPicPr>
          <p:cNvPr id="3" name="Picture 2" descr="직업 6개의 lam별 남성 비율 곡선. 원본, 무작위, 50% 지점 표시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234440"/>
            <a:ext cx="8503920" cy="45354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79592"/>
            <a:ext cx="85039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 latinLnBrk="0">
              <a:spcAft>
                <a:spcPts val="600"/>
              </a:spcAft>
            </a:pPr>
            <a:r>
              <a:rPr lang="ko-KR" altLang="en-US" sz="1200" b="0">
                <a:solidFill>
                  <a:srgbClr val="6B707C"/>
                </a:solidFill>
                <a:latin typeface="Malgun Gothic"/>
              </a:rPr>
              <a:t>파란 선 = 축 위치(lam)별 남성 비율 · 검은 네모 = 원본 · 노란 세모 = 무작위 · 빨간 점선 = 50% 지점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326880" y="1371600"/>
            <a:ext cx="2316175" cy="141732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latinLnBrk="0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509759" y="1508760"/>
            <a:ext cx="1950415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 latinLnBrk="0">
              <a:spcAft>
                <a:spcPts val="200"/>
              </a:spcAft>
            </a:pPr>
            <a:r>
              <a:rPr lang="ko-KR" altLang="en-US" sz="2600" b="1">
                <a:solidFill>
                  <a:srgbClr val="D1495B"/>
                </a:solidFill>
                <a:latin typeface="Malgun Gothic"/>
              </a:rPr>
              <a:t>0~3%</a:t>
            </a:r>
          </a:p>
          <a:p>
            <a:pPr algn="l" eaLnBrk="0" latinLnBrk="0">
              <a:spcAft>
                <a:spcPts val="600"/>
              </a:spcAft>
            </a:pPr>
            <a:r>
              <a:rPr lang="ko-KR" altLang="en-US" sz="1200" b="0">
                <a:solidFill>
                  <a:srgbClr val="1C1F2B"/>
                </a:solidFill>
                <a:latin typeface="Malgun Gothic"/>
              </a:rPr>
              <a:t>여성 쪽 끝(lam −1)일 때 남성 비율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326880" y="2971800"/>
            <a:ext cx="2316175" cy="141732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latinLnBrk="0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509759" y="3108960"/>
            <a:ext cx="1950415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 latinLnBrk="0">
              <a:spcAft>
                <a:spcPts val="200"/>
              </a:spcAft>
            </a:pPr>
            <a:r>
              <a:rPr lang="ko-KR" altLang="en-US" sz="2600" b="1">
                <a:solidFill>
                  <a:srgbClr val="2E6FBA"/>
                </a:solidFill>
                <a:latin typeface="Malgun Gothic"/>
              </a:rPr>
              <a:t>81~100%</a:t>
            </a:r>
          </a:p>
          <a:p>
            <a:pPr algn="l" eaLnBrk="0" latinLnBrk="0">
              <a:spcAft>
                <a:spcPts val="600"/>
              </a:spcAft>
            </a:pPr>
            <a:r>
              <a:rPr lang="ko-KR" altLang="en-US" sz="1200" b="0">
                <a:solidFill>
                  <a:srgbClr val="1C1F2B"/>
                </a:solidFill>
                <a:latin typeface="Malgun Gothic"/>
              </a:rPr>
              <a:t>남성 쪽 끝(lam +1)일 때 남성 비율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326880" y="4572000"/>
            <a:ext cx="2316175" cy="141732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latinLnBrk="0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509759" y="4709160"/>
            <a:ext cx="1950415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 latinLnBrk="0">
              <a:spcAft>
                <a:spcPts val="200"/>
              </a:spcAft>
            </a:pPr>
            <a:r>
              <a:rPr lang="ko-KR" altLang="en-US" sz="2600" b="1">
                <a:solidFill>
                  <a:srgbClr val="1C1F2B"/>
                </a:solidFill>
                <a:latin typeface="Malgun Gothic"/>
              </a:rPr>
              <a:t>≤ 3%p</a:t>
            </a:r>
          </a:p>
          <a:p>
            <a:pPr algn="l" eaLnBrk="0" latinLnBrk="0">
              <a:spcAft>
                <a:spcPts val="600"/>
              </a:spcAft>
            </a:pPr>
            <a:r>
              <a:rPr lang="ko-KR" altLang="en-US" sz="1200" b="0">
                <a:solidFill>
                  <a:srgbClr val="1C1F2B"/>
                </a:solidFill>
                <a:latin typeface="Malgun Gothic"/>
              </a:rPr>
              <a:t>무작위 방향과 원본의 차이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00800"/>
            <a:ext cx="9875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 latinLnBrk="0">
              <a:spcAft>
                <a:spcPts val="600"/>
              </a:spcAft>
            </a:pPr>
            <a:r>
              <a:rPr lang="ko-KR" altLang="en-US" sz="1000" b="0">
                <a:solidFill>
                  <a:srgbClr val="6B707C"/>
                </a:solidFill>
                <a:latin typeface="Malgun Gothic"/>
              </a:rPr>
              <a:t>출처: 05 노트북 셀 12 (figures/lam_curves.png), 셀 10 (남성 비율 표)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6400800"/>
            <a:ext cx="48463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eaLnBrk="0" latinLnBrk="0">
              <a:spcAft>
                <a:spcPts val="600"/>
              </a:spcAft>
            </a:pPr>
            <a:r>
              <a:rPr lang="ko-KR" altLang="en-US" sz="1000" b="0">
                <a:solidFill>
                  <a:srgbClr val="6B707C"/>
                </a:solidFill>
                <a:latin typeface="Malgun Gothic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65760"/>
            <a:ext cx="11064240" cy="822960"/>
          </a:xfrm>
        </p:spPr>
        <p:txBody>
          <a:bodyPr lIns="0" rIns="0" anchor="ctr"/>
          <a:lstStyle/>
          <a:p>
            <a:pPr algn="l" eaLnBrk="0" latinLnBrk="0"/>
            <a:r>
              <a:rPr lang="ko-KR" altLang="en-US" sz="3200" b="1">
                <a:solidFill>
                  <a:srgbClr val="1C1F2B"/>
                </a:solidFill>
                <a:latin typeface="Malgun Gothic"/>
              </a:rPr>
              <a:t>Discussion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548640" y="1737360"/>
          <a:ext cx="6400800" cy="4206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48640" y="1280160"/>
            <a:ext cx="6400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 latinLnBrk="0">
              <a:spcAft>
                <a:spcPts val="600"/>
              </a:spcAft>
            </a:pPr>
            <a:r>
              <a:rPr lang="ko-KR" altLang="en-US" sz="1200">
                <a:solidFill>
                  <a:srgbClr val="2E6FBA"/>
                </a:solidFill>
                <a:latin typeface="Malgun Gothic"/>
              </a:rPr>
              <a:t>■ </a:t>
            </a:r>
            <a:r>
              <a:rPr lang="ko-KR" altLang="en-US" sz="1200">
                <a:solidFill>
                  <a:srgbClr val="6B707C"/>
                </a:solidFill>
                <a:latin typeface="Malgun Gothic"/>
              </a:rPr>
              <a:t>남성 쪽 직업    </a:t>
            </a:r>
            <a:r>
              <a:rPr lang="ko-KR" altLang="en-US" sz="1200">
                <a:solidFill>
                  <a:srgbClr val="3A9A5B"/>
                </a:solidFill>
                <a:latin typeface="Malgun Gothic"/>
              </a:rPr>
              <a:t>■ </a:t>
            </a:r>
            <a:r>
              <a:rPr lang="ko-KR" altLang="en-US" sz="1200">
                <a:solidFill>
                  <a:srgbClr val="6B707C"/>
                </a:solidFill>
                <a:latin typeface="Malgun Gothic"/>
              </a:rPr>
              <a:t>중립 직업    </a:t>
            </a:r>
            <a:r>
              <a:rPr lang="ko-KR" altLang="en-US" sz="1200">
                <a:solidFill>
                  <a:srgbClr val="D1495B"/>
                </a:solidFill>
                <a:latin typeface="Malgun Gothic"/>
              </a:rPr>
              <a:t>■ </a:t>
            </a:r>
            <a:r>
              <a:rPr lang="ko-KR" altLang="en-US" sz="1200">
                <a:solidFill>
                  <a:srgbClr val="6B707C"/>
                </a:solidFill>
                <a:latin typeface="Malgun Gothic"/>
              </a:rPr>
              <a:t>여성 쪽 직업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406640" y="1371600"/>
            <a:ext cx="4206240" cy="214884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latinLnBrk="0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680960" y="1554480"/>
            <a:ext cx="3657600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 latinLnBrk="0">
              <a:spcAft>
                <a:spcPts val="400"/>
              </a:spcAft>
            </a:pPr>
            <a:r>
              <a:rPr lang="ko-KR" altLang="en-US" sz="1500" b="1">
                <a:solidFill>
                  <a:srgbClr val="6B707C"/>
                </a:solidFill>
                <a:latin typeface="Malgun Gothic"/>
              </a:rPr>
              <a:t>예상</a:t>
            </a:r>
          </a:p>
          <a:p>
            <a:pPr algn="l" eaLnBrk="0" latinLnBrk="0">
              <a:spcAft>
                <a:spcPts val="1000"/>
              </a:spcAft>
            </a:pPr>
            <a:r>
              <a:rPr lang="ko-KR" altLang="en-US" sz="1600" b="0">
                <a:solidFill>
                  <a:srgbClr val="1C1F2B"/>
                </a:solidFill>
                <a:latin typeface="Malgun Gothic"/>
              </a:rPr>
              <a:t>축 가운데(lam 0)로 옮기면 남녀 반반</a:t>
            </a:r>
          </a:p>
          <a:p>
            <a:pPr algn="l" eaLnBrk="0" latinLnBrk="0">
              <a:spcAft>
                <a:spcPts val="400"/>
              </a:spcAft>
            </a:pPr>
            <a:r>
              <a:rPr lang="ko-KR" altLang="en-US" sz="1500" b="1">
                <a:solidFill>
                  <a:srgbClr val="E8A33D"/>
                </a:solidFill>
                <a:latin typeface="Malgun Gothic"/>
              </a:rPr>
              <a:t>실제</a:t>
            </a:r>
          </a:p>
          <a:p>
            <a:pPr algn="l" eaLnBrk="0" latinLnBrk="0">
              <a:spcAft>
                <a:spcPts val="600"/>
              </a:spcAft>
            </a:pPr>
            <a:r>
              <a:rPr lang="ko-KR" altLang="en-US" sz="1600" b="0">
                <a:solidFill>
                  <a:srgbClr val="1C1F2B"/>
                </a:solidFill>
                <a:latin typeface="Malgun Gothic"/>
              </a:rPr>
              <a:t>lam 0에서 남성 4~27%, 6개 모두 여성 다수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06640" y="3703320"/>
            <a:ext cx="4206240" cy="2240280"/>
          </a:xfrm>
          <a:prstGeom prst="roundRect">
            <a:avLst>
              <a:gd name="adj" fmla="val 8000"/>
            </a:avLst>
          </a:prstGeom>
          <a:solidFill>
            <a:srgbClr val="1C1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latinLnBrk="0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680960" y="3886200"/>
            <a:ext cx="3657600" cy="1920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 latinLnBrk="0">
              <a:spcAft>
                <a:spcPts val="1000"/>
              </a:spcAft>
            </a:pPr>
            <a:r>
              <a:rPr lang="ko-KR" altLang="en-US" sz="1600" b="1">
                <a:solidFill>
                  <a:srgbClr val="FFFFFF"/>
                </a:solidFill>
                <a:latin typeface="Malgun Gothic"/>
              </a:rPr>
              <a:t>반반이 되려면 남성 쪽으로 +0.18~+0.45 더 밀어야 한다</a:t>
            </a:r>
          </a:p>
          <a:p>
            <a:pPr algn="l" eaLnBrk="0" latinLnBrk="0">
              <a:spcAft>
                <a:spcPts val="600"/>
              </a:spcAft>
            </a:pPr>
            <a:r>
              <a:rPr lang="ko-KR" altLang="en-US" sz="1400" b="0">
                <a:solidFill>
                  <a:srgbClr val="C9CCD3"/>
                </a:solidFill>
                <a:latin typeface="Malgun Gothic"/>
              </a:rPr>
              <a:t>여성 쪽 직업(nurse, nanny)일수록 더 많이 → 축 하나로는 다 설명되지 않는 편향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00800"/>
            <a:ext cx="9875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 latinLnBrk="0">
              <a:spcAft>
                <a:spcPts val="600"/>
              </a:spcAft>
            </a:pPr>
            <a:r>
              <a:rPr lang="ko-KR" altLang="en-US" sz="1000" b="0">
                <a:solidFill>
                  <a:srgbClr val="6B707C"/>
                </a:solidFill>
                <a:latin typeface="Malgun Gothic"/>
              </a:rPr>
              <a:t>출처: 05 노트북 셀 12 (lam_at_50pct 표), 셀 10 (lam 0 열) · 대체 그림: figures/lam_at_50.png · lam 0.5 간격 사이 직선 보간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00800"/>
            <a:ext cx="48463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eaLnBrk="0" latinLnBrk="0">
              <a:spcAft>
                <a:spcPts val="600"/>
              </a:spcAft>
            </a:pPr>
            <a:r>
              <a:rPr lang="ko-KR" altLang="en-US" sz="1000" b="0">
                <a:solidFill>
                  <a:srgbClr val="6B707C"/>
                </a:solidFill>
                <a:latin typeface="Malgun Gothic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65760"/>
            <a:ext cx="11064240" cy="822960"/>
          </a:xfrm>
        </p:spPr>
        <p:txBody>
          <a:bodyPr lIns="0" rIns="0" anchor="ctr"/>
          <a:lstStyle/>
          <a:p>
            <a:pPr algn="l" eaLnBrk="0" latinLnBrk="0"/>
            <a:r>
              <a:rPr lang="ko-KR" altLang="en-US" sz="3200" b="1">
                <a:solidFill>
                  <a:srgbClr val="1C1F2B"/>
                </a:solidFill>
                <a:latin typeface="Malgun Gothic"/>
              </a:rPr>
              <a:t>안전장치: 성별 위치 클리핑</a:t>
            </a:r>
          </a:p>
        </p:txBody>
      </p:sp>
      <p:pic>
        <p:nvPicPr>
          <p:cNvPr id="3" name="Picture 2" descr="05 lam 곡선 위에 클리핑 결과를 겹친 그림. 직업 6개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280160"/>
            <a:ext cx="7315200" cy="39014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273039"/>
            <a:ext cx="7315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 latinLnBrk="0">
              <a:spcAft>
                <a:spcPts val="600"/>
              </a:spcAft>
            </a:pPr>
            <a:r>
              <a:rPr lang="ko-KR" altLang="en-US" sz="1100" b="0" dirty="0">
                <a:solidFill>
                  <a:srgbClr val="6B707C"/>
                </a:solidFill>
                <a:latin typeface="Malgun Gothic"/>
              </a:rPr>
              <a:t>노란 띠 = </a:t>
            </a:r>
            <a:r>
              <a:rPr lang="ko-KR" altLang="en-US" sz="1100" b="0" dirty="0" err="1">
                <a:solidFill>
                  <a:srgbClr val="6B707C"/>
                </a:solidFill>
                <a:latin typeface="Malgun Gothic"/>
              </a:rPr>
              <a:t>클리핑</a:t>
            </a:r>
            <a:r>
              <a:rPr lang="ko-KR" altLang="en-US" sz="1100" b="0" dirty="0">
                <a:solidFill>
                  <a:srgbClr val="6B707C"/>
                </a:solidFill>
                <a:latin typeface="Malgun Gothic"/>
              </a:rPr>
              <a:t> 범위 · 검은 네모 = 원본 · 빨간 점 = </a:t>
            </a:r>
            <a:r>
              <a:rPr lang="ko-KR" altLang="en-US" sz="1100" b="0" dirty="0" err="1">
                <a:solidFill>
                  <a:srgbClr val="6B707C"/>
                </a:solidFill>
                <a:latin typeface="Malgun Gothic"/>
              </a:rPr>
              <a:t>클리핑</a:t>
            </a:r>
            <a:r>
              <a:rPr lang="ko-KR" altLang="en-US" sz="1100" b="0" dirty="0">
                <a:solidFill>
                  <a:srgbClr val="6B707C"/>
                </a:solidFill>
                <a:latin typeface="Malgun Gothic"/>
              </a:rPr>
              <a:t> 결과 · 가로 막대 = 생성 전 예측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183879" y="1280160"/>
            <a:ext cx="3459175" cy="242316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latinLnBrk="0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412480" y="1417320"/>
            <a:ext cx="3001975" cy="2240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 latinLnBrk="0">
              <a:spcAft>
                <a:spcPts val="600"/>
              </a:spcAft>
            </a:pPr>
            <a:r>
              <a:rPr lang="ko-KR" altLang="en-US" sz="1500" b="1">
                <a:solidFill>
                  <a:srgbClr val="1C1F2B"/>
                </a:solidFill>
                <a:latin typeface="Malgun Gothic"/>
              </a:rPr>
              <a:t>lam을 +0.2 ~ +0.4로 자른다</a:t>
            </a:r>
          </a:p>
          <a:p>
            <a:pPr algn="l" eaLnBrk="0" latinLnBrk="0">
              <a:spcAft>
                <a:spcPts val="200"/>
              </a:spcAft>
            </a:pPr>
            <a:r>
              <a:rPr lang="ko-KR" altLang="en-US" sz="1300" b="0">
                <a:solidFill>
                  <a:srgbClr val="1C1F2B"/>
                </a:solidFill>
                <a:latin typeface="Malgun Gothic"/>
              </a:rPr>
              <a:t>범위 밖이면 가까운 경계로</a:t>
            </a:r>
          </a:p>
          <a:p>
            <a:pPr algn="l" eaLnBrk="0" latinLnBrk="0">
              <a:spcAft>
                <a:spcPts val="800"/>
              </a:spcAft>
            </a:pPr>
            <a:r>
              <a:rPr lang="ko-KR" altLang="en-US" sz="1300" b="0">
                <a:solidFill>
                  <a:srgbClr val="1C1F2B"/>
                </a:solidFill>
                <a:latin typeface="Malgun Gothic"/>
              </a:rPr>
              <a:t>CEO +0.67 → +0.4, nurse −0.43 → +0.2</a:t>
            </a:r>
          </a:p>
          <a:p>
            <a:pPr algn="l" eaLnBrk="0" latinLnBrk="0">
              <a:spcAft>
                <a:spcPts val="600"/>
              </a:spcAft>
            </a:pPr>
            <a:r>
              <a:rPr lang="ko-KR" altLang="en-US" sz="1200" b="0">
                <a:solidFill>
                  <a:srgbClr val="6B707C"/>
                </a:solidFill>
                <a:latin typeface="Malgun Gothic"/>
              </a:rPr>
              <a:t>중심이 0이 아닌 +0.3인 이유: 반반 지점이 +0.18~+0.45였다 (Discussion)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83879" y="3840480"/>
            <a:ext cx="3459175" cy="105156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latinLnBrk="0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412480" y="3931920"/>
            <a:ext cx="3001975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 latinLnBrk="0">
              <a:spcAft>
                <a:spcPts val="200"/>
              </a:spcAft>
            </a:pPr>
            <a:r>
              <a:rPr lang="ko-KR" altLang="en-US" sz="2000" b="1">
                <a:solidFill>
                  <a:srgbClr val="E8A33D"/>
                </a:solidFill>
                <a:latin typeface="Malgun Gothic"/>
              </a:rPr>
              <a:t>0.00~0.98 → 0.19~0.82</a:t>
            </a:r>
          </a:p>
          <a:p>
            <a:pPr algn="l" eaLnBrk="0" latinLnBrk="0">
              <a:spcAft>
                <a:spcPts val="600"/>
              </a:spcAft>
            </a:pPr>
            <a:r>
              <a:rPr lang="ko-KR" altLang="en-US" sz="1200" b="0">
                <a:solidFill>
                  <a:srgbClr val="1C1F2B"/>
                </a:solidFill>
                <a:latin typeface="Malgun Gothic"/>
              </a:rPr>
              <a:t>직업별 남성 비율 범위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83879" y="5029200"/>
            <a:ext cx="3459175" cy="105156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latinLnBrk="0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412480" y="5120640"/>
            <a:ext cx="3001975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 latinLnBrk="0">
              <a:spcAft>
                <a:spcPts val="200"/>
              </a:spcAft>
            </a:pPr>
            <a:r>
              <a:rPr lang="ko-KR" altLang="en-US" sz="2000" b="1">
                <a:solidFill>
                  <a:srgbClr val="E8A33D"/>
                </a:solidFill>
                <a:latin typeface="Malgun Gothic"/>
              </a:rPr>
              <a:t>0.41 → 0.25</a:t>
            </a:r>
          </a:p>
          <a:p>
            <a:pPr algn="l" eaLnBrk="0" latinLnBrk="0">
              <a:spcAft>
                <a:spcPts val="600"/>
              </a:spcAft>
            </a:pPr>
            <a:r>
              <a:rPr lang="ko-KR" altLang="en-US" sz="1200" b="0">
                <a:solidFill>
                  <a:srgbClr val="1C1F2B"/>
                </a:solidFill>
                <a:latin typeface="Malgun Gothic"/>
              </a:rPr>
              <a:t>50%에서의 평균 거리 (약 40% 감소)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00800"/>
            <a:ext cx="9875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 latinLnBrk="0">
              <a:spcAft>
                <a:spcPts val="600"/>
              </a:spcAft>
            </a:pPr>
            <a:r>
              <a:rPr lang="ko-KR" altLang="en-US" sz="1000" b="0">
                <a:solidFill>
                  <a:srgbClr val="6B707C"/>
                </a:solidFill>
                <a:latin typeface="Malgun Gothic"/>
              </a:rPr>
              <a:t>출처: 06 노트북 셀 6 (예측 대 실제 표), 셀 9 (figures/clamp_on_curves.png)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6400800"/>
            <a:ext cx="48463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eaLnBrk="0" latinLnBrk="0">
              <a:spcAft>
                <a:spcPts val="600"/>
              </a:spcAft>
            </a:pPr>
            <a:r>
              <a:rPr lang="ko-KR" altLang="en-US" sz="1000" b="0">
                <a:solidFill>
                  <a:srgbClr val="6B707C"/>
                </a:solidFill>
                <a:latin typeface="Malgun Gothic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6103B472-016E-C35B-A59F-F431A03416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74818" y="3742301"/>
            <a:ext cx="4831938" cy="2793183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75DCEC1B-9383-BF12-1913-059BE5BDD4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2553" y="1532193"/>
            <a:ext cx="3982006" cy="2210108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CC59D295-263A-170F-52FA-D9905F203D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0615" y="2095380"/>
            <a:ext cx="3982006" cy="415348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B7BE158E-2E76-A120-CFD3-B0C59A40B5B8}"/>
              </a:ext>
            </a:extLst>
          </p:cNvPr>
          <p:cNvSpPr txBox="1"/>
          <p:nvPr/>
        </p:nvSpPr>
        <p:spPr>
          <a:xfrm>
            <a:off x="1174044" y="699911"/>
            <a:ext cx="17395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Clipping </a:t>
            </a:r>
            <a:r>
              <a:rPr lang="ko-KR" altLang="en-US" dirty="0"/>
              <a:t>후 예시</a:t>
            </a:r>
          </a:p>
        </p:txBody>
      </p:sp>
    </p:spTree>
    <p:extLst>
      <p:ext uri="{BB962C8B-B14F-4D97-AF65-F5344CB8AC3E}">
        <p14:creationId xmlns:p14="http://schemas.microsoft.com/office/powerpoint/2010/main" val="305037288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65760"/>
            <a:ext cx="11064240" cy="822960"/>
          </a:xfrm>
        </p:spPr>
        <p:txBody>
          <a:bodyPr lIns="0" rIns="0" anchor="ctr"/>
          <a:lstStyle/>
          <a:p>
            <a:pPr algn="l" eaLnBrk="0" latinLnBrk="0"/>
            <a:r>
              <a:rPr lang="ko-KR" altLang="en-US" sz="3200" b="1">
                <a:solidFill>
                  <a:srgbClr val="1C1F2B"/>
                </a:solidFill>
                <a:latin typeface="Malgun Gothic"/>
              </a:rPr>
              <a:t>클리핑 결과: 예측대로, 부작용 없이</a:t>
            </a:r>
          </a:p>
        </p:txBody>
      </p:sp>
      <p:sp>
        <p:nvSpPr>
          <p:cNvPr id="4" name="Oval 3"/>
          <p:cNvSpPr/>
          <p:nvPr/>
        </p:nvSpPr>
        <p:spPr>
          <a:xfrm>
            <a:off x="548640" y="5141162"/>
            <a:ext cx="384048" cy="384048"/>
          </a:xfrm>
          <a:prstGeom prst="ellipse">
            <a:avLst/>
          </a:prstGeom>
          <a:solidFill>
            <a:srgbClr val="2E6F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0" latinLnBrk="0"/>
            <a:r>
              <a:rPr lang="ko-KR" altLang="en-US" sz="1400" b="1">
                <a:solidFill>
                  <a:srgbClr val="FFFFFF"/>
                </a:solidFill>
                <a:latin typeface="Malgun Gothic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122874"/>
            <a:ext cx="30632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 latinLnBrk="0">
              <a:spcAft>
                <a:spcPts val="600"/>
              </a:spcAft>
            </a:pPr>
            <a:r>
              <a:rPr lang="ko-KR" altLang="en-US" sz="1500" b="1">
                <a:solidFill>
                  <a:srgbClr val="1C1F2B"/>
                </a:solidFill>
                <a:latin typeface="Malgun Gothic"/>
              </a:rPr>
              <a:t>예측과 일치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5506922"/>
            <a:ext cx="30632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 latinLnBrk="0">
              <a:spcAft>
                <a:spcPts val="600"/>
              </a:spcAft>
            </a:pPr>
            <a:r>
              <a:rPr lang="ko-KR" altLang="en-US" sz="1300" b="0">
                <a:solidFill>
                  <a:srgbClr val="1C1F2B"/>
                </a:solidFill>
                <a:latin typeface="Malgun Gothic"/>
              </a:rPr>
              <a:t>생성 전에 05 곡선으로 한 예측과 6개 중 5개가 ±0.04 안 (teacher만 −0.19)</a:t>
            </a:r>
          </a:p>
        </p:txBody>
      </p:sp>
      <p:sp>
        <p:nvSpPr>
          <p:cNvPr id="7" name="Oval 6"/>
          <p:cNvSpPr/>
          <p:nvPr/>
        </p:nvSpPr>
        <p:spPr>
          <a:xfrm>
            <a:off x="4297679" y="5141162"/>
            <a:ext cx="384048" cy="384048"/>
          </a:xfrm>
          <a:prstGeom prst="ellipse">
            <a:avLst/>
          </a:prstGeom>
          <a:solidFill>
            <a:srgbClr val="3A9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0" latinLnBrk="0"/>
            <a:r>
              <a:rPr lang="ko-KR" altLang="en-US" sz="1400" b="1">
                <a:solidFill>
                  <a:srgbClr val="FFFFFF"/>
                </a:solidFill>
                <a:latin typeface="Malgun Gothic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00599" y="5122874"/>
            <a:ext cx="30632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 latinLnBrk="0">
              <a:spcAft>
                <a:spcPts val="600"/>
              </a:spcAft>
            </a:pPr>
            <a:r>
              <a:rPr lang="ko-KR" altLang="en-US" sz="1500" b="1">
                <a:solidFill>
                  <a:srgbClr val="1C1F2B"/>
                </a:solidFill>
                <a:latin typeface="Malgun Gothic"/>
              </a:rPr>
              <a:t>부작용 없음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00599" y="5506922"/>
            <a:ext cx="30632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 latinLnBrk="0">
              <a:spcAft>
                <a:spcPts val="600"/>
              </a:spcAft>
            </a:pPr>
            <a:r>
              <a:rPr lang="ko-KR" altLang="en-US" sz="1300" b="0">
                <a:solidFill>
                  <a:srgbClr val="1C1F2B"/>
                </a:solidFill>
                <a:latin typeface="Malgun Gothic"/>
              </a:rPr>
              <a:t>CLIP score 변화 0.4 이하로 직업 의미 유지 (lam +1로 옮겼을 땐 nanny −2.7)</a:t>
            </a:r>
          </a:p>
        </p:txBody>
      </p:sp>
      <p:sp>
        <p:nvSpPr>
          <p:cNvPr id="10" name="Oval 9"/>
          <p:cNvSpPr/>
          <p:nvPr/>
        </p:nvSpPr>
        <p:spPr>
          <a:xfrm>
            <a:off x="8046719" y="5141162"/>
            <a:ext cx="384048" cy="384048"/>
          </a:xfrm>
          <a:prstGeom prst="ellipse">
            <a:avLst/>
          </a:prstGeom>
          <a:solidFill>
            <a:srgbClr val="D149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0" latinLnBrk="0"/>
            <a:r>
              <a:rPr lang="ko-KR" altLang="en-US" sz="1400" b="1">
                <a:solidFill>
                  <a:srgbClr val="FFFFFF"/>
                </a:solidFill>
                <a:latin typeface="Malgun Gothic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49640" y="5122874"/>
            <a:ext cx="30632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 latinLnBrk="0">
              <a:spcAft>
                <a:spcPts val="600"/>
              </a:spcAft>
            </a:pPr>
            <a:r>
              <a:rPr lang="ko-KR" altLang="en-US" sz="1500" b="1">
                <a:solidFill>
                  <a:srgbClr val="1C1F2B"/>
                </a:solidFill>
                <a:latin typeface="Malgun Gothic"/>
              </a:rPr>
              <a:t>한계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49640" y="5506922"/>
            <a:ext cx="30632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 latinLnBrk="0">
              <a:spcAft>
                <a:spcPts val="600"/>
              </a:spcAft>
            </a:pPr>
            <a:r>
              <a:rPr lang="ko-KR" altLang="en-US" sz="1300" b="0">
                <a:solidFill>
                  <a:srgbClr val="1C1F2B"/>
                </a:solidFill>
                <a:latin typeface="Malgun Gothic"/>
              </a:rPr>
              <a:t>편향 폭은 줄었지만 직업 간 차이는 남는다: CEO·pilot 0.80~0.82, 나머지 0.19~0.44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00800"/>
            <a:ext cx="9875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 latinLnBrk="0">
              <a:spcAft>
                <a:spcPts val="600"/>
              </a:spcAft>
            </a:pPr>
            <a:r>
              <a:rPr lang="ko-KR" altLang="en-US" sz="1000" b="0" dirty="0">
                <a:solidFill>
                  <a:srgbClr val="6B707C"/>
                </a:solidFill>
                <a:latin typeface="Malgun Gothic"/>
              </a:rPr>
              <a:t>출처: 06 노트북 셀 6 (예측 대 실제), 셀 11 (</a:t>
            </a:r>
            <a:r>
              <a:rPr lang="ko-KR" altLang="en-US" sz="1000" b="0" dirty="0" err="1">
                <a:solidFill>
                  <a:srgbClr val="6B707C"/>
                </a:solidFill>
                <a:latin typeface="Malgun Gothic"/>
              </a:rPr>
              <a:t>figures</a:t>
            </a:r>
            <a:r>
              <a:rPr lang="ko-KR" altLang="en-US" sz="1000" b="0" dirty="0">
                <a:solidFill>
                  <a:srgbClr val="6B707C"/>
                </a:solidFill>
                <a:latin typeface="Malgun Gothic"/>
              </a:rPr>
              <a:t>/</a:t>
            </a:r>
            <a:r>
              <a:rPr lang="ko-KR" altLang="en-US" sz="1000" b="0" dirty="0" err="1">
                <a:solidFill>
                  <a:srgbClr val="6B707C"/>
                </a:solidFill>
                <a:latin typeface="Malgun Gothic"/>
              </a:rPr>
              <a:t>clamp_grid.png</a:t>
            </a:r>
            <a:r>
              <a:rPr lang="ko-KR" altLang="en-US" sz="1000" b="0" dirty="0">
                <a:solidFill>
                  <a:srgbClr val="6B707C"/>
                </a:solidFill>
                <a:latin typeface="Malgun Gothic"/>
              </a:rPr>
              <a:t>), 셀 13 (CLIP </a:t>
            </a:r>
            <a:r>
              <a:rPr lang="ko-KR" altLang="en-US" sz="1000" b="0" dirty="0" err="1">
                <a:solidFill>
                  <a:srgbClr val="6B707C"/>
                </a:solidFill>
                <a:latin typeface="Malgun Gothic"/>
              </a:rPr>
              <a:t>score</a:t>
            </a:r>
            <a:r>
              <a:rPr lang="ko-KR" altLang="en-US" sz="1000" b="0" dirty="0">
                <a:solidFill>
                  <a:srgbClr val="6B707C"/>
                </a:solidFill>
                <a:latin typeface="Malgun Gothic"/>
              </a:rPr>
              <a:t>) · 05 노트북 셀 16 (</a:t>
            </a:r>
            <a:r>
              <a:rPr lang="ko-KR" altLang="en-US" sz="1000" b="0" dirty="0" err="1">
                <a:solidFill>
                  <a:srgbClr val="6B707C"/>
                </a:solidFill>
                <a:latin typeface="Malgun Gothic"/>
              </a:rPr>
              <a:t>nanny</a:t>
            </a:r>
            <a:r>
              <a:rPr lang="ko-KR" altLang="en-US" sz="1000" b="0" dirty="0">
                <a:solidFill>
                  <a:srgbClr val="6B707C"/>
                </a:solidFill>
                <a:latin typeface="Malgun Gothic"/>
              </a:rPr>
              <a:t> −2.7)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55680" y="6400800"/>
            <a:ext cx="48463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eaLnBrk="0" latinLnBrk="0">
              <a:spcAft>
                <a:spcPts val="600"/>
              </a:spcAft>
            </a:pPr>
            <a:r>
              <a:rPr lang="ko-KR" altLang="en-US" sz="1000" b="0">
                <a:solidFill>
                  <a:srgbClr val="6B707C"/>
                </a:solidFill>
                <a:latin typeface="Malgun Gothic"/>
              </a:rPr>
              <a:t>14</a:t>
            </a:r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8306943D-74AB-BA65-C4DC-799E2B8BCF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666" y="1188720"/>
            <a:ext cx="6773333" cy="3802314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712B2D04-C017-317D-9095-9D989A7ABF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11896" y="2161810"/>
            <a:ext cx="3900984" cy="2232115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1F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65760"/>
            <a:ext cx="11064240" cy="822960"/>
          </a:xfrm>
        </p:spPr>
        <p:txBody>
          <a:bodyPr lIns="0" rIns="0" anchor="ctr"/>
          <a:lstStyle/>
          <a:p>
            <a:pPr algn="l" eaLnBrk="0" latinLnBrk="0"/>
            <a:r>
              <a:rPr lang="ko-KR" altLang="en-US" sz="3200" b="1">
                <a:solidFill>
                  <a:srgbClr val="FFFFFF"/>
                </a:solidFill>
                <a:latin typeface="Malgun Gothic"/>
              </a:rPr>
              <a:t>정리: 투명성이 보여 준 것</a:t>
            </a:r>
          </a:p>
        </p:txBody>
      </p:sp>
      <p:sp>
        <p:nvSpPr>
          <p:cNvPr id="3" name="Oval 2"/>
          <p:cNvSpPr/>
          <p:nvPr/>
        </p:nvSpPr>
        <p:spPr>
          <a:xfrm>
            <a:off x="548640" y="1417320"/>
            <a:ext cx="548640" cy="548640"/>
          </a:xfrm>
          <a:prstGeom prst="ellipse">
            <a:avLst/>
          </a:prstGeom>
          <a:solidFill>
            <a:srgbClr val="2E6F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0" latinLnBrk="0"/>
            <a:r>
              <a:rPr lang="ko-KR" altLang="en-US" sz="1800" b="1">
                <a:solidFill>
                  <a:srgbClr val="FFFFFF"/>
                </a:solidFill>
                <a:latin typeface="Malgun Gothic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25880" y="1371600"/>
            <a:ext cx="201168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 eaLnBrk="0" latinLnBrk="0">
              <a:spcAft>
                <a:spcPts val="600"/>
              </a:spcAft>
            </a:pPr>
            <a:r>
              <a:rPr lang="ko-KR" altLang="en-US" sz="2200" b="1">
                <a:solidFill>
                  <a:srgbClr val="FFFFFF"/>
                </a:solidFill>
                <a:latin typeface="Malgun Gothic"/>
              </a:rPr>
              <a:t>보였다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0" y="1371600"/>
            <a:ext cx="868680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 eaLnBrk="0" latinLnBrk="0">
              <a:spcAft>
                <a:spcPts val="600"/>
              </a:spcAft>
            </a:pPr>
            <a:r>
              <a:rPr lang="ko-KR" altLang="en-US" sz="1700" b="0">
                <a:solidFill>
                  <a:srgbClr val="DDDFE4"/>
                </a:solidFill>
                <a:latin typeface="Malgun Gothic"/>
              </a:rPr>
              <a:t>텍스트 인코더 안에 '성별 방향'이 있고, 직업들이 그 위에 남녀로 갈라져 있다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2331720"/>
            <a:ext cx="548640" cy="548640"/>
          </a:xfrm>
          <a:prstGeom prst="ellipse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0" latinLnBrk="0"/>
            <a:r>
              <a:rPr lang="ko-KR" altLang="en-US" sz="1800" b="1">
                <a:solidFill>
                  <a:srgbClr val="FFFFFF"/>
                </a:solidFill>
                <a:latin typeface="Malgun Gothic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2286000"/>
            <a:ext cx="201168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 eaLnBrk="0" latinLnBrk="0">
              <a:spcAft>
                <a:spcPts val="600"/>
              </a:spcAft>
            </a:pPr>
            <a:r>
              <a:rPr lang="ko-KR" altLang="en-US" sz="2200" b="1">
                <a:solidFill>
                  <a:srgbClr val="FFFFFF"/>
                </a:solidFill>
                <a:latin typeface="Malgun Gothic"/>
              </a:rPr>
              <a:t>추적했다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2286000"/>
            <a:ext cx="868680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 eaLnBrk="0" latinLnBrk="0">
              <a:spcAft>
                <a:spcPts val="600"/>
              </a:spcAft>
            </a:pPr>
            <a:r>
              <a:rPr lang="ko-KR" altLang="en-US" sz="1700" b="0">
                <a:solidFill>
                  <a:srgbClr val="DDDFE4"/>
                </a:solidFill>
                <a:latin typeface="Malgun Gothic"/>
              </a:rPr>
              <a:t>성별 정보는 1층부터 보이고, 뒤 층으로 갈수록 강해진다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3246120"/>
            <a:ext cx="548640" cy="548640"/>
          </a:xfrm>
          <a:prstGeom prst="ellipse">
            <a:avLst/>
          </a:prstGeom>
          <a:solidFill>
            <a:srgbClr val="D149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0" latinLnBrk="0"/>
            <a:r>
              <a:rPr lang="ko-KR" altLang="en-US" sz="1800" b="1">
                <a:solidFill>
                  <a:srgbClr val="FFFFFF"/>
                </a:solidFill>
                <a:latin typeface="Malgun Gothic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3200400"/>
            <a:ext cx="201168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 eaLnBrk="0" latinLnBrk="0">
              <a:spcAft>
                <a:spcPts val="600"/>
              </a:spcAft>
            </a:pPr>
            <a:r>
              <a:rPr lang="ko-KR" altLang="en-US" sz="2200" b="1">
                <a:solidFill>
                  <a:srgbClr val="FFFFFF"/>
                </a:solidFill>
                <a:latin typeface="Malgun Gothic"/>
              </a:rPr>
              <a:t>확인했다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3200400"/>
            <a:ext cx="868680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 eaLnBrk="0" latinLnBrk="0">
              <a:spcAft>
                <a:spcPts val="600"/>
              </a:spcAft>
            </a:pPr>
            <a:r>
              <a:rPr lang="ko-KR" altLang="en-US" sz="1700" b="0">
                <a:solidFill>
                  <a:srgbClr val="DDDFE4"/>
                </a:solidFill>
                <a:latin typeface="Malgun Gothic"/>
              </a:rPr>
              <a:t>그 방향만 움직이면 이미지의 남성 비율이 0~3%에서 81~100%까지 바뀐다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4160520"/>
            <a:ext cx="548640" cy="548640"/>
          </a:xfrm>
          <a:prstGeom prst="ellipse">
            <a:avLst/>
          </a:prstGeom>
          <a:solidFill>
            <a:srgbClr val="3A9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0" latinLnBrk="0"/>
            <a:r>
              <a:rPr lang="ko-KR" altLang="en-US" sz="1800" b="1">
                <a:solidFill>
                  <a:srgbClr val="FFFFFF"/>
                </a:solidFill>
                <a:latin typeface="Malgun Gothic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25880" y="4114800"/>
            <a:ext cx="201168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 eaLnBrk="0" latinLnBrk="0">
              <a:spcAft>
                <a:spcPts val="600"/>
              </a:spcAft>
            </a:pPr>
            <a:r>
              <a:rPr lang="ko-KR" altLang="en-US" sz="2200" b="1">
                <a:solidFill>
                  <a:srgbClr val="FFFFFF"/>
                </a:solidFill>
                <a:latin typeface="Malgun Gothic"/>
              </a:rPr>
              <a:t>줄였다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4114800"/>
            <a:ext cx="868680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 eaLnBrk="0" latinLnBrk="0">
              <a:spcAft>
                <a:spcPts val="600"/>
              </a:spcAft>
            </a:pPr>
            <a:r>
              <a:rPr lang="ko-KR" altLang="en-US" sz="1700" b="0">
                <a:solidFill>
                  <a:srgbClr val="DDDFE4"/>
                </a:solidFill>
                <a:latin typeface="Malgun Gothic"/>
              </a:rPr>
              <a:t>클리핑으로 직업 간 성별 편차를 약 40% 줄였고 결과를 미리 예측할 수 있었다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5074920"/>
            <a:ext cx="110642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 latinLnBrk="0">
              <a:spcAft>
                <a:spcPts val="600"/>
              </a:spcAft>
            </a:pPr>
            <a:r>
              <a:rPr lang="ko-KR" altLang="en-US" sz="1800" b="1">
                <a:solidFill>
                  <a:srgbClr val="E8A33D"/>
                </a:solidFill>
                <a:latin typeface="Malgun Gothic"/>
              </a:rPr>
              <a:t>하지만 축 가운데는 중립이 아니었다 → 내부를 봐야 '간단한 해결책'의 한계도 보인다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5715000"/>
            <a:ext cx="110642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 latinLnBrk="0">
              <a:spcAft>
                <a:spcPts val="600"/>
              </a:spcAft>
            </a:pPr>
            <a:r>
              <a:rPr lang="ko-KR" altLang="en-US" sz="1300" b="0">
                <a:solidFill>
                  <a:srgbClr val="A8ACB6"/>
                </a:solidFill>
                <a:latin typeface="Malgun Gothic"/>
              </a:rPr>
              <a:t>한계: 직업 6개 · 영어 프롬프트 하나 · 성별을 남/여 둘로만 · 판정은 사람이 아닌 CLIP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00800"/>
            <a:ext cx="9875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 latinLnBrk="0">
              <a:spcAft>
                <a:spcPts val="600"/>
              </a:spcAft>
            </a:pPr>
            <a:r>
              <a:rPr lang="ko-KR" altLang="en-US" sz="1000" b="0">
                <a:solidFill>
                  <a:srgbClr val="A8ACB6"/>
                </a:solidFill>
                <a:latin typeface="Malgun Gothic"/>
              </a:rPr>
              <a:t>출처: 05 노트북 셀 8 (판정 신뢰도), 셀 16 (CLIP score, 백업)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55680" y="6400800"/>
            <a:ext cx="48463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eaLnBrk="0" latinLnBrk="0">
              <a:spcAft>
                <a:spcPts val="600"/>
              </a:spcAft>
            </a:pPr>
            <a:r>
              <a:rPr lang="ko-KR" altLang="en-US" sz="1000" b="0">
                <a:solidFill>
                  <a:srgbClr val="A8ACB6"/>
                </a:solidFill>
                <a:latin typeface="Malgun Gothic"/>
              </a:rPr>
              <a:t>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2608</Words>
  <Application>Microsoft Office PowerPoint</Application>
  <PresentationFormat>와이드스크린</PresentationFormat>
  <Paragraphs>219</Paragraphs>
  <Slides>16</Slides>
  <Notes>15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16</vt:i4>
      </vt:variant>
    </vt:vector>
  </HeadingPairs>
  <TitlesOfParts>
    <vt:vector size="20" baseType="lpstr">
      <vt:lpstr>Malgun Gothic</vt:lpstr>
      <vt:lpstr>Arial</vt:lpstr>
      <vt:lpstr>Calibri</vt:lpstr>
      <vt:lpstr>Office Theme</vt:lpstr>
      <vt:lpstr>AI는 왜 CEO를 남자로 그릴까?</vt:lpstr>
      <vt:lpstr>블랙박스를 열어 보기</vt:lpstr>
      <vt:lpstr>Stable Diffusion 1.5는 어떻게 그림을 그릴까</vt:lpstr>
      <vt:lpstr>우리가 건드린 곳: 어디를, 왜, 무슨 의미인가</vt:lpstr>
      <vt:lpstr>배경 ①: 단어는 좌표, 성별은 방향</vt:lpstr>
      <vt:lpstr>배경 ②: 그 방향은 진짜 '성별'일까?</vt:lpstr>
      <vt:lpstr>직업을 성별 축 위에 놓으면</vt:lpstr>
      <vt:lpstr>편향은 몇 번째 층에서 생길까</vt:lpstr>
      <vt:lpstr>같은 시드, 축만 움직였을 때</vt:lpstr>
      <vt:lpstr>실험 환경</vt:lpstr>
      <vt:lpstr>CLIP 판정 결과: 축 위치별 남성 비율</vt:lpstr>
      <vt:lpstr>Discussion</vt:lpstr>
      <vt:lpstr>안전장치: 성별 위치 클리핑</vt:lpstr>
      <vt:lpstr>PowerPoint 프레젠테이션</vt:lpstr>
      <vt:lpstr>클리핑 결과: 예측대로, 부작용 없이</vt:lpstr>
      <vt:lpstr>정리: 투명성이 보여 준 것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AI는 왜 CEO를 남자로 그릴까?</dc:title>
  <dc:subject/>
  <dc:creator/>
  <cp:keywords/>
  <dc:description>generated using python-pptx</dc:description>
  <cp:lastModifiedBy>선준 이</cp:lastModifiedBy>
  <cp:revision>7</cp:revision>
  <dcterms:created xsi:type="dcterms:W3CDTF">2013-01-27T09:14:16Z</dcterms:created>
  <dcterms:modified xsi:type="dcterms:W3CDTF">2026-10-27T17:55:25Z</dcterms:modified>
  <cp:category/>
</cp:coreProperties>
</file>